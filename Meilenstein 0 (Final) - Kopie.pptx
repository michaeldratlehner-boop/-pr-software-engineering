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78" r:id="rId4"/>
    <p:sldId id="279" r:id="rId5"/>
    <p:sldId id="280" r:id="rId6"/>
    <p:sldId id="281" r:id="rId7"/>
    <p:sldId id="282" r:id="rId8"/>
    <p:sldId id="263" r:id="rId9"/>
    <p:sldId id="258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59" r:id="rId21"/>
    <p:sldId id="260" r:id="rId22"/>
    <p:sldId id="261" r:id="rId23"/>
    <p:sldId id="262" r:id="rId24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3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B1A106-7221-43E8-98AD-E51F209475B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A6DDBD-148A-4B24-B8F5-F7C542A43A63}">
      <dgm:prSet/>
      <dgm:spPr/>
      <dgm:t>
        <a:bodyPr/>
        <a:lstStyle/>
        <a:p>
          <a:r>
            <a:rPr lang="en-GB" dirty="0"/>
            <a:t>Product Owner: </a:t>
          </a:r>
          <a:br>
            <a:rPr lang="en-GB" dirty="0"/>
          </a:br>
          <a:r>
            <a:rPr lang="en-GB" dirty="0" err="1"/>
            <a:t>Vertritt</a:t>
          </a:r>
          <a:r>
            <a:rPr lang="en-GB" dirty="0"/>
            <a:t> die </a:t>
          </a:r>
          <a:r>
            <a:rPr lang="en-GB" dirty="0" err="1"/>
            <a:t>Interessen</a:t>
          </a:r>
          <a:r>
            <a:rPr lang="en-GB" dirty="0"/>
            <a:t> des Kunden</a:t>
          </a:r>
          <a:br>
            <a:rPr lang="en-GB" dirty="0"/>
          </a:br>
          <a:r>
            <a:rPr lang="en-GB" dirty="0" err="1"/>
            <a:t>Verantwortlich</a:t>
          </a:r>
          <a:r>
            <a:rPr lang="en-GB" dirty="0"/>
            <a:t> für den </a:t>
          </a:r>
          <a:r>
            <a:rPr lang="en-GB" dirty="0" err="1"/>
            <a:t>Nutzen</a:t>
          </a:r>
          <a:r>
            <a:rPr lang="en-GB" dirty="0"/>
            <a:t> des </a:t>
          </a:r>
          <a:r>
            <a:rPr lang="en-GB" dirty="0" err="1"/>
            <a:t>Produkts</a:t>
          </a:r>
          <a:br>
            <a:rPr lang="en-GB" dirty="0"/>
          </a:br>
          <a:r>
            <a:rPr lang="en-GB" dirty="0" err="1"/>
            <a:t>Priorisiert</a:t>
          </a:r>
          <a:r>
            <a:rPr lang="en-GB" dirty="0"/>
            <a:t> &amp; </a:t>
          </a:r>
          <a:r>
            <a:rPr lang="en-GB" dirty="0" err="1"/>
            <a:t>verwaltet</a:t>
          </a:r>
          <a:r>
            <a:rPr lang="en-GB" dirty="0"/>
            <a:t> das Backlog</a:t>
          </a:r>
          <a:endParaRPr lang="en-US" dirty="0"/>
        </a:p>
      </dgm:t>
    </dgm:pt>
    <dgm:pt modelId="{A2F1B1CD-9A91-4F31-A556-0B7C4D5C13C8}" type="parTrans" cxnId="{7A08997D-DFF8-4360-AAEB-F54E87B8B744}">
      <dgm:prSet/>
      <dgm:spPr/>
      <dgm:t>
        <a:bodyPr/>
        <a:lstStyle/>
        <a:p>
          <a:endParaRPr lang="en-US"/>
        </a:p>
      </dgm:t>
    </dgm:pt>
    <dgm:pt modelId="{60EECD48-BA71-43A2-8627-AE814B17FE05}" type="sibTrans" cxnId="{7A08997D-DFF8-4360-AAEB-F54E87B8B744}">
      <dgm:prSet/>
      <dgm:spPr/>
      <dgm:t>
        <a:bodyPr/>
        <a:lstStyle/>
        <a:p>
          <a:endParaRPr lang="en-US"/>
        </a:p>
      </dgm:t>
    </dgm:pt>
    <dgm:pt modelId="{725D0BA0-81BB-44DD-9391-703C6F9039D1}">
      <dgm:prSet/>
      <dgm:spPr/>
      <dgm:t>
        <a:bodyPr/>
        <a:lstStyle/>
        <a:p>
          <a:r>
            <a:rPr lang="en-GB" dirty="0"/>
            <a:t>Scrum Master:</a:t>
          </a:r>
          <a:br>
            <a:rPr lang="en-GB" dirty="0"/>
          </a:br>
          <a:r>
            <a:rPr lang="en-GB" dirty="0" err="1"/>
            <a:t>Unterstützt</a:t>
          </a:r>
          <a:r>
            <a:rPr lang="en-GB" dirty="0"/>
            <a:t> das Team und </a:t>
          </a:r>
          <a:r>
            <a:rPr lang="en-GB" dirty="0" err="1"/>
            <a:t>fördert</a:t>
          </a:r>
          <a:r>
            <a:rPr lang="en-GB" dirty="0"/>
            <a:t> den </a:t>
          </a:r>
          <a:r>
            <a:rPr lang="en-GB" dirty="0" err="1"/>
            <a:t>Prozess</a:t>
          </a:r>
          <a:br>
            <a:rPr lang="en-GB" dirty="0"/>
          </a:br>
          <a:r>
            <a:rPr lang="en-GB" dirty="0" err="1"/>
            <a:t>Organisiert</a:t>
          </a:r>
          <a:r>
            <a:rPr lang="en-GB" dirty="0"/>
            <a:t> &amp; </a:t>
          </a:r>
          <a:r>
            <a:rPr lang="en-GB" dirty="0" err="1"/>
            <a:t>moderiert</a:t>
          </a:r>
          <a:r>
            <a:rPr lang="en-GB" dirty="0"/>
            <a:t> Meetings</a:t>
          </a:r>
          <a:br>
            <a:rPr lang="en-GB" dirty="0"/>
          </a:br>
          <a:r>
            <a:rPr lang="en-GB" dirty="0" err="1"/>
            <a:t>Beseitigt</a:t>
          </a:r>
          <a:r>
            <a:rPr lang="en-GB" dirty="0"/>
            <a:t> </a:t>
          </a:r>
          <a:r>
            <a:rPr lang="en-GB" dirty="0" err="1"/>
            <a:t>Hindernisse</a:t>
          </a:r>
          <a:r>
            <a:rPr lang="en-GB" dirty="0"/>
            <a:t> und </a:t>
          </a:r>
          <a:r>
            <a:rPr lang="en-GB" dirty="0" err="1"/>
            <a:t>schützt</a:t>
          </a:r>
          <a:r>
            <a:rPr lang="en-GB" dirty="0"/>
            <a:t> das Team</a:t>
          </a:r>
          <a:endParaRPr lang="en-US" dirty="0"/>
        </a:p>
      </dgm:t>
    </dgm:pt>
    <dgm:pt modelId="{D8F233AC-036D-4D27-8AE3-00FF1ADA6706}" type="parTrans" cxnId="{1516B5EB-381C-49C6-B593-50F08A0D08D3}">
      <dgm:prSet/>
      <dgm:spPr/>
      <dgm:t>
        <a:bodyPr/>
        <a:lstStyle/>
        <a:p>
          <a:endParaRPr lang="en-US"/>
        </a:p>
      </dgm:t>
    </dgm:pt>
    <dgm:pt modelId="{8FEA4ED3-A2CA-43E6-94D0-057A51084BBB}" type="sibTrans" cxnId="{1516B5EB-381C-49C6-B593-50F08A0D08D3}">
      <dgm:prSet/>
      <dgm:spPr/>
      <dgm:t>
        <a:bodyPr/>
        <a:lstStyle/>
        <a:p>
          <a:endParaRPr lang="en-US"/>
        </a:p>
      </dgm:t>
    </dgm:pt>
    <dgm:pt modelId="{678779F3-D8BE-431A-803F-492DF7A1A978}">
      <dgm:prSet/>
      <dgm:spPr/>
      <dgm:t>
        <a:bodyPr/>
        <a:lstStyle/>
        <a:p>
          <a:r>
            <a:rPr lang="en-GB"/>
            <a:t>Entwicklungsteam:</a:t>
          </a:r>
          <a:br>
            <a:rPr lang="en-GB"/>
          </a:br>
          <a:r>
            <a:rPr lang="en-GB"/>
            <a:t>3 – 9 Personen, interdisziplinär</a:t>
          </a:r>
          <a:br>
            <a:rPr lang="en-GB"/>
          </a:br>
          <a:r>
            <a:rPr lang="en-GB"/>
            <a:t>Liefert ein fertiges Ergebnis im Sprint</a:t>
          </a:r>
          <a:br>
            <a:rPr lang="en-GB"/>
          </a:br>
          <a:r>
            <a:rPr lang="en-GB"/>
            <a:t>Arbeitet selbstorganisiert nach Kundenanforderungen</a:t>
          </a:r>
          <a:br>
            <a:rPr lang="en-GB"/>
          </a:br>
          <a:endParaRPr lang="en-US"/>
        </a:p>
      </dgm:t>
    </dgm:pt>
    <dgm:pt modelId="{BFBF6B3C-BC4A-400C-A48B-07DDA368B9A3}" type="parTrans" cxnId="{387D15AC-4760-4772-BD4A-192847FE14BB}">
      <dgm:prSet/>
      <dgm:spPr/>
      <dgm:t>
        <a:bodyPr/>
        <a:lstStyle/>
        <a:p>
          <a:endParaRPr lang="en-US"/>
        </a:p>
      </dgm:t>
    </dgm:pt>
    <dgm:pt modelId="{562354D3-DCC0-4CDB-84C4-531F530917C6}" type="sibTrans" cxnId="{387D15AC-4760-4772-BD4A-192847FE14BB}">
      <dgm:prSet/>
      <dgm:spPr/>
      <dgm:t>
        <a:bodyPr/>
        <a:lstStyle/>
        <a:p>
          <a:endParaRPr lang="en-US"/>
        </a:p>
      </dgm:t>
    </dgm:pt>
    <dgm:pt modelId="{CA88A136-D623-174D-AE3E-5F14FB5591C9}" type="pres">
      <dgm:prSet presAssocID="{2AB1A106-7221-43E8-98AD-E51F209475BD}" presName="vert0" presStyleCnt="0">
        <dgm:presLayoutVars>
          <dgm:dir/>
          <dgm:animOne val="branch"/>
          <dgm:animLvl val="lvl"/>
        </dgm:presLayoutVars>
      </dgm:prSet>
      <dgm:spPr/>
    </dgm:pt>
    <dgm:pt modelId="{0C57C7E3-81F0-0C44-B423-AC0A81485F72}" type="pres">
      <dgm:prSet presAssocID="{47A6DDBD-148A-4B24-B8F5-F7C542A43A63}" presName="thickLine" presStyleLbl="alignNode1" presStyleIdx="0" presStyleCnt="3"/>
      <dgm:spPr/>
    </dgm:pt>
    <dgm:pt modelId="{4BBFACCF-F62D-7247-9D56-323A684BFD98}" type="pres">
      <dgm:prSet presAssocID="{47A6DDBD-148A-4B24-B8F5-F7C542A43A63}" presName="horz1" presStyleCnt="0"/>
      <dgm:spPr/>
    </dgm:pt>
    <dgm:pt modelId="{0F11B644-908A-684B-ACC1-D19AC4808D70}" type="pres">
      <dgm:prSet presAssocID="{47A6DDBD-148A-4B24-B8F5-F7C542A43A63}" presName="tx1" presStyleLbl="revTx" presStyleIdx="0" presStyleCnt="3"/>
      <dgm:spPr/>
    </dgm:pt>
    <dgm:pt modelId="{DC281DE7-70A0-8549-826E-ED711F28DB5B}" type="pres">
      <dgm:prSet presAssocID="{47A6DDBD-148A-4B24-B8F5-F7C542A43A63}" presName="vert1" presStyleCnt="0"/>
      <dgm:spPr/>
    </dgm:pt>
    <dgm:pt modelId="{DE9C0852-EDAD-9846-A9AF-E774BE288D75}" type="pres">
      <dgm:prSet presAssocID="{725D0BA0-81BB-44DD-9391-703C6F9039D1}" presName="thickLine" presStyleLbl="alignNode1" presStyleIdx="1" presStyleCnt="3"/>
      <dgm:spPr/>
    </dgm:pt>
    <dgm:pt modelId="{E0814AFE-BF5B-D845-90AE-95AB703EB656}" type="pres">
      <dgm:prSet presAssocID="{725D0BA0-81BB-44DD-9391-703C6F9039D1}" presName="horz1" presStyleCnt="0"/>
      <dgm:spPr/>
    </dgm:pt>
    <dgm:pt modelId="{06294BCE-81C0-3B4E-820E-35AA666A15D1}" type="pres">
      <dgm:prSet presAssocID="{725D0BA0-81BB-44DD-9391-703C6F9039D1}" presName="tx1" presStyleLbl="revTx" presStyleIdx="1" presStyleCnt="3"/>
      <dgm:spPr/>
    </dgm:pt>
    <dgm:pt modelId="{58694667-D012-EE47-8662-ACD06612B047}" type="pres">
      <dgm:prSet presAssocID="{725D0BA0-81BB-44DD-9391-703C6F9039D1}" presName="vert1" presStyleCnt="0"/>
      <dgm:spPr/>
    </dgm:pt>
    <dgm:pt modelId="{1A4C6AF3-685A-5D42-A5F3-1D407A4245D8}" type="pres">
      <dgm:prSet presAssocID="{678779F3-D8BE-431A-803F-492DF7A1A978}" presName="thickLine" presStyleLbl="alignNode1" presStyleIdx="2" presStyleCnt="3"/>
      <dgm:spPr/>
    </dgm:pt>
    <dgm:pt modelId="{89737FD3-B243-F548-A631-170BBC3E3AF4}" type="pres">
      <dgm:prSet presAssocID="{678779F3-D8BE-431A-803F-492DF7A1A978}" presName="horz1" presStyleCnt="0"/>
      <dgm:spPr/>
    </dgm:pt>
    <dgm:pt modelId="{9630DA6C-3AEE-B643-8C0E-60F7A759FA7A}" type="pres">
      <dgm:prSet presAssocID="{678779F3-D8BE-431A-803F-492DF7A1A978}" presName="tx1" presStyleLbl="revTx" presStyleIdx="2" presStyleCnt="3"/>
      <dgm:spPr/>
    </dgm:pt>
    <dgm:pt modelId="{D0D03A67-E80D-664C-B611-A3AA69AB9A0A}" type="pres">
      <dgm:prSet presAssocID="{678779F3-D8BE-431A-803F-492DF7A1A978}" presName="vert1" presStyleCnt="0"/>
      <dgm:spPr/>
    </dgm:pt>
  </dgm:ptLst>
  <dgm:cxnLst>
    <dgm:cxn modelId="{7A08997D-DFF8-4360-AAEB-F54E87B8B744}" srcId="{2AB1A106-7221-43E8-98AD-E51F209475BD}" destId="{47A6DDBD-148A-4B24-B8F5-F7C542A43A63}" srcOrd="0" destOrd="0" parTransId="{A2F1B1CD-9A91-4F31-A556-0B7C4D5C13C8}" sibTransId="{60EECD48-BA71-43A2-8627-AE814B17FE05}"/>
    <dgm:cxn modelId="{E7F5FF94-DA64-8142-AB15-B84901F16E8D}" type="presOf" srcId="{2AB1A106-7221-43E8-98AD-E51F209475BD}" destId="{CA88A136-D623-174D-AE3E-5F14FB5591C9}" srcOrd="0" destOrd="0" presId="urn:microsoft.com/office/officeart/2008/layout/LinedList"/>
    <dgm:cxn modelId="{387D15AC-4760-4772-BD4A-192847FE14BB}" srcId="{2AB1A106-7221-43E8-98AD-E51F209475BD}" destId="{678779F3-D8BE-431A-803F-492DF7A1A978}" srcOrd="2" destOrd="0" parTransId="{BFBF6B3C-BC4A-400C-A48B-07DDA368B9A3}" sibTransId="{562354D3-DCC0-4CDB-84C4-531F530917C6}"/>
    <dgm:cxn modelId="{51648EB6-643A-B54E-9307-03BDD036E54B}" type="presOf" srcId="{678779F3-D8BE-431A-803F-492DF7A1A978}" destId="{9630DA6C-3AEE-B643-8C0E-60F7A759FA7A}" srcOrd="0" destOrd="0" presId="urn:microsoft.com/office/officeart/2008/layout/LinedList"/>
    <dgm:cxn modelId="{B19877C1-612E-D342-92CE-9461CCEE46FC}" type="presOf" srcId="{725D0BA0-81BB-44DD-9391-703C6F9039D1}" destId="{06294BCE-81C0-3B4E-820E-35AA666A15D1}" srcOrd="0" destOrd="0" presId="urn:microsoft.com/office/officeart/2008/layout/LinedList"/>
    <dgm:cxn modelId="{939D69D8-74D8-024E-AE71-1812A910C85E}" type="presOf" srcId="{47A6DDBD-148A-4B24-B8F5-F7C542A43A63}" destId="{0F11B644-908A-684B-ACC1-D19AC4808D70}" srcOrd="0" destOrd="0" presId="urn:microsoft.com/office/officeart/2008/layout/LinedList"/>
    <dgm:cxn modelId="{1516B5EB-381C-49C6-B593-50F08A0D08D3}" srcId="{2AB1A106-7221-43E8-98AD-E51F209475BD}" destId="{725D0BA0-81BB-44DD-9391-703C6F9039D1}" srcOrd="1" destOrd="0" parTransId="{D8F233AC-036D-4D27-8AE3-00FF1ADA6706}" sibTransId="{8FEA4ED3-A2CA-43E6-94D0-057A51084BBB}"/>
    <dgm:cxn modelId="{41E14C01-0001-C342-B173-B8687D65D5BE}" type="presParOf" srcId="{CA88A136-D623-174D-AE3E-5F14FB5591C9}" destId="{0C57C7E3-81F0-0C44-B423-AC0A81485F72}" srcOrd="0" destOrd="0" presId="urn:microsoft.com/office/officeart/2008/layout/LinedList"/>
    <dgm:cxn modelId="{59156F6D-2D6C-7D43-94EC-051CBB574F7C}" type="presParOf" srcId="{CA88A136-D623-174D-AE3E-5F14FB5591C9}" destId="{4BBFACCF-F62D-7247-9D56-323A684BFD98}" srcOrd="1" destOrd="0" presId="urn:microsoft.com/office/officeart/2008/layout/LinedList"/>
    <dgm:cxn modelId="{B144D657-AD2C-8347-901F-7B43C972E80C}" type="presParOf" srcId="{4BBFACCF-F62D-7247-9D56-323A684BFD98}" destId="{0F11B644-908A-684B-ACC1-D19AC4808D70}" srcOrd="0" destOrd="0" presId="urn:microsoft.com/office/officeart/2008/layout/LinedList"/>
    <dgm:cxn modelId="{0E4D3C0F-DC3F-1C43-AE2E-1E5C850C568D}" type="presParOf" srcId="{4BBFACCF-F62D-7247-9D56-323A684BFD98}" destId="{DC281DE7-70A0-8549-826E-ED711F28DB5B}" srcOrd="1" destOrd="0" presId="urn:microsoft.com/office/officeart/2008/layout/LinedList"/>
    <dgm:cxn modelId="{EC99B74E-A2B5-0049-90E8-E2F677062B1D}" type="presParOf" srcId="{CA88A136-D623-174D-AE3E-5F14FB5591C9}" destId="{DE9C0852-EDAD-9846-A9AF-E774BE288D75}" srcOrd="2" destOrd="0" presId="urn:microsoft.com/office/officeart/2008/layout/LinedList"/>
    <dgm:cxn modelId="{23362991-FC66-6C40-9F5F-066C3DF157AB}" type="presParOf" srcId="{CA88A136-D623-174D-AE3E-5F14FB5591C9}" destId="{E0814AFE-BF5B-D845-90AE-95AB703EB656}" srcOrd="3" destOrd="0" presId="urn:microsoft.com/office/officeart/2008/layout/LinedList"/>
    <dgm:cxn modelId="{07AED24A-6357-1640-B01C-27B932786541}" type="presParOf" srcId="{E0814AFE-BF5B-D845-90AE-95AB703EB656}" destId="{06294BCE-81C0-3B4E-820E-35AA666A15D1}" srcOrd="0" destOrd="0" presId="urn:microsoft.com/office/officeart/2008/layout/LinedList"/>
    <dgm:cxn modelId="{27C84E67-E11B-BA40-A087-5722C7F03E57}" type="presParOf" srcId="{E0814AFE-BF5B-D845-90AE-95AB703EB656}" destId="{58694667-D012-EE47-8662-ACD06612B047}" srcOrd="1" destOrd="0" presId="urn:microsoft.com/office/officeart/2008/layout/LinedList"/>
    <dgm:cxn modelId="{CF46BE56-8307-F54D-B29E-DA8E262E19ED}" type="presParOf" srcId="{CA88A136-D623-174D-AE3E-5F14FB5591C9}" destId="{1A4C6AF3-685A-5D42-A5F3-1D407A4245D8}" srcOrd="4" destOrd="0" presId="urn:microsoft.com/office/officeart/2008/layout/LinedList"/>
    <dgm:cxn modelId="{4B620455-C224-2645-A76E-E43013213B1D}" type="presParOf" srcId="{CA88A136-D623-174D-AE3E-5F14FB5591C9}" destId="{89737FD3-B243-F548-A631-170BBC3E3AF4}" srcOrd="5" destOrd="0" presId="urn:microsoft.com/office/officeart/2008/layout/LinedList"/>
    <dgm:cxn modelId="{71274A2E-9107-1C4E-B79E-F9440ED51428}" type="presParOf" srcId="{89737FD3-B243-F548-A631-170BBC3E3AF4}" destId="{9630DA6C-3AEE-B643-8C0E-60F7A759FA7A}" srcOrd="0" destOrd="0" presId="urn:microsoft.com/office/officeart/2008/layout/LinedList"/>
    <dgm:cxn modelId="{F2A28782-9033-C64B-BAC2-D6F8BD12F57A}" type="presParOf" srcId="{89737FD3-B243-F548-A631-170BBC3E3AF4}" destId="{D0D03A67-E80D-664C-B611-A3AA69AB9A0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1CCBD5-1F40-4D45-AE2D-31FCF697E03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EB5882-13F8-4C00-AF70-C8D6EE7EA92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Product Backlog:</a:t>
          </a:r>
          <a:br>
            <a:rPr lang="en-GB" dirty="0"/>
          </a:br>
          <a:r>
            <a:rPr lang="en-GB" dirty="0" err="1"/>
            <a:t>Vom</a:t>
          </a:r>
          <a:r>
            <a:rPr lang="en-GB" dirty="0"/>
            <a:t> Product Owner </a:t>
          </a:r>
          <a:r>
            <a:rPr lang="en-GB" dirty="0" err="1"/>
            <a:t>verantwortet</a:t>
          </a:r>
          <a:br>
            <a:rPr lang="en-GB" dirty="0"/>
          </a:br>
          <a:r>
            <a:rPr lang="en-GB" dirty="0" err="1"/>
            <a:t>Enthält</a:t>
          </a:r>
          <a:r>
            <a:rPr lang="en-GB" dirty="0"/>
            <a:t> alle </a:t>
          </a:r>
          <a:r>
            <a:rPr lang="en-GB" dirty="0" err="1"/>
            <a:t>Aufgaben</a:t>
          </a:r>
          <a:r>
            <a:rPr lang="en-GB" dirty="0"/>
            <a:t> und </a:t>
          </a:r>
          <a:r>
            <a:rPr lang="en-GB" dirty="0" err="1"/>
            <a:t>Anforderungen</a:t>
          </a:r>
          <a:r>
            <a:rPr lang="en-GB" dirty="0"/>
            <a:t>, </a:t>
          </a:r>
          <a:r>
            <a:rPr lang="en-GB" dirty="0" err="1"/>
            <a:t>nach</a:t>
          </a:r>
          <a:r>
            <a:rPr lang="en-GB" dirty="0"/>
            <a:t> </a:t>
          </a:r>
          <a:r>
            <a:rPr lang="en-GB" dirty="0" err="1"/>
            <a:t>Priorität</a:t>
          </a:r>
          <a:r>
            <a:rPr lang="en-GB" dirty="0"/>
            <a:t> </a:t>
          </a:r>
          <a:r>
            <a:rPr lang="en-GB" dirty="0" err="1"/>
            <a:t>geordnet</a:t>
          </a:r>
          <a:br>
            <a:rPr lang="en-GB" dirty="0"/>
          </a:br>
          <a:r>
            <a:rPr lang="en-GB" dirty="0"/>
            <a:t>Nie </a:t>
          </a:r>
          <a:r>
            <a:rPr lang="en-GB" dirty="0" err="1"/>
            <a:t>abgeschlossen</a:t>
          </a:r>
          <a:r>
            <a:rPr lang="en-GB" dirty="0"/>
            <a:t>, </a:t>
          </a:r>
          <a:r>
            <a:rPr lang="en-GB" dirty="0" err="1"/>
            <a:t>wird</a:t>
          </a:r>
          <a:r>
            <a:rPr lang="en-GB" dirty="0"/>
            <a:t> </a:t>
          </a:r>
          <a:r>
            <a:rPr lang="en-GB" dirty="0" err="1"/>
            <a:t>ständig</a:t>
          </a:r>
          <a:r>
            <a:rPr lang="en-GB" dirty="0"/>
            <a:t> </a:t>
          </a:r>
          <a:r>
            <a:rPr lang="en-GB" dirty="0" err="1"/>
            <a:t>aktualisiert</a:t>
          </a:r>
          <a:r>
            <a:rPr lang="en-GB" dirty="0"/>
            <a:t> und </a:t>
          </a:r>
          <a:r>
            <a:rPr lang="en-GB" dirty="0" err="1"/>
            <a:t>erweitert</a:t>
          </a:r>
          <a:endParaRPr lang="en-US" dirty="0"/>
        </a:p>
      </dgm:t>
    </dgm:pt>
    <dgm:pt modelId="{5CBE588F-5022-46E2-8FE0-46B72313EC14}" type="parTrans" cxnId="{37DDA22B-CC61-422B-871D-0C44BEAF71A4}">
      <dgm:prSet/>
      <dgm:spPr/>
      <dgm:t>
        <a:bodyPr/>
        <a:lstStyle/>
        <a:p>
          <a:endParaRPr lang="en-US"/>
        </a:p>
      </dgm:t>
    </dgm:pt>
    <dgm:pt modelId="{76298920-8E4C-46F0-845A-6F14D9EF6D9A}" type="sibTrans" cxnId="{37DDA22B-CC61-422B-871D-0C44BEAF71A4}">
      <dgm:prSet/>
      <dgm:spPr/>
      <dgm:t>
        <a:bodyPr/>
        <a:lstStyle/>
        <a:p>
          <a:endParaRPr lang="en-US"/>
        </a:p>
      </dgm:t>
    </dgm:pt>
    <dgm:pt modelId="{FBAA229A-AD47-41FC-BB85-BC2BC1C40C3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Sprint Backlog:</a:t>
          </a:r>
          <a:br>
            <a:rPr lang="en-GB" dirty="0"/>
          </a:br>
          <a:r>
            <a:rPr lang="en-GB" dirty="0" err="1"/>
            <a:t>Arbeitsplan</a:t>
          </a:r>
          <a:r>
            <a:rPr lang="en-GB" dirty="0"/>
            <a:t> für den </a:t>
          </a:r>
          <a:r>
            <a:rPr lang="en-GB" dirty="0" err="1"/>
            <a:t>aktuellen</a:t>
          </a:r>
          <a:r>
            <a:rPr lang="en-GB" dirty="0"/>
            <a:t> Sprint</a:t>
          </a:r>
          <a:br>
            <a:rPr lang="en-GB" dirty="0"/>
          </a:br>
          <a:r>
            <a:rPr lang="en-GB" dirty="0" err="1"/>
            <a:t>Enthält</a:t>
          </a:r>
          <a:r>
            <a:rPr lang="en-GB" dirty="0"/>
            <a:t> die Backlog-</a:t>
          </a:r>
          <a:r>
            <a:rPr lang="en-GB" dirty="0" err="1"/>
            <a:t>Einträge</a:t>
          </a:r>
          <a:r>
            <a:rPr lang="en-GB" dirty="0"/>
            <a:t>, die </a:t>
          </a:r>
          <a:r>
            <a:rPr lang="en-GB" dirty="0" err="1"/>
            <a:t>im</a:t>
          </a:r>
          <a:r>
            <a:rPr lang="en-GB" dirty="0"/>
            <a:t> Sprint </a:t>
          </a:r>
          <a:r>
            <a:rPr lang="en-GB" dirty="0" err="1"/>
            <a:t>umgesetzt</a:t>
          </a:r>
          <a:r>
            <a:rPr lang="en-GB" dirty="0"/>
            <a:t> </a:t>
          </a:r>
          <a:r>
            <a:rPr lang="en-GB" dirty="0" err="1"/>
            <a:t>werden</a:t>
          </a:r>
          <a:r>
            <a:rPr lang="en-GB" dirty="0"/>
            <a:t> </a:t>
          </a:r>
          <a:r>
            <a:rPr lang="en-GB" dirty="0" err="1"/>
            <a:t>sollen</a:t>
          </a:r>
          <a:br>
            <a:rPr lang="en-GB" dirty="0"/>
          </a:br>
          <a:r>
            <a:rPr lang="en-GB" dirty="0" err="1"/>
            <a:t>Täglich</a:t>
          </a:r>
          <a:r>
            <a:rPr lang="en-GB" dirty="0"/>
            <a:t> </a:t>
          </a:r>
          <a:r>
            <a:rPr lang="en-GB" dirty="0" err="1"/>
            <a:t>aktualisiert</a:t>
          </a:r>
          <a:br>
            <a:rPr lang="en-GB" dirty="0"/>
          </a:br>
          <a:r>
            <a:rPr lang="en-GB" dirty="0"/>
            <a:t>Oft in 3 </a:t>
          </a:r>
          <a:r>
            <a:rPr lang="en-GB" dirty="0" err="1"/>
            <a:t>Spalten</a:t>
          </a:r>
          <a:r>
            <a:rPr lang="en-GB" dirty="0"/>
            <a:t> </a:t>
          </a:r>
          <a:r>
            <a:rPr lang="en-GB" dirty="0" err="1"/>
            <a:t>geliedert</a:t>
          </a:r>
          <a:r>
            <a:rPr lang="en-GB" dirty="0"/>
            <a:t>: To Do, Doing und Done</a:t>
          </a:r>
          <a:endParaRPr lang="en-US" dirty="0"/>
        </a:p>
      </dgm:t>
    </dgm:pt>
    <dgm:pt modelId="{4A5074F9-24B6-4FFB-B4C1-1D69D28B33D5}" type="parTrans" cxnId="{B2DD8E05-CE82-48E9-BC65-3542229CAF1D}">
      <dgm:prSet/>
      <dgm:spPr/>
      <dgm:t>
        <a:bodyPr/>
        <a:lstStyle/>
        <a:p>
          <a:endParaRPr lang="en-US"/>
        </a:p>
      </dgm:t>
    </dgm:pt>
    <dgm:pt modelId="{8EB7BA18-BFFF-4A8F-83AE-320FA845B3CE}" type="sibTrans" cxnId="{B2DD8E05-CE82-48E9-BC65-3542229CAF1D}">
      <dgm:prSet/>
      <dgm:spPr/>
      <dgm:t>
        <a:bodyPr/>
        <a:lstStyle/>
        <a:p>
          <a:endParaRPr lang="en-US"/>
        </a:p>
      </dgm:t>
    </dgm:pt>
    <dgm:pt modelId="{A3196F3B-9571-4428-BE77-E09BA260CED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Increment:</a:t>
          </a:r>
          <a:br>
            <a:rPr lang="en-GB" dirty="0"/>
          </a:br>
          <a:r>
            <a:rPr lang="en-GB" dirty="0"/>
            <a:t>Summe </a:t>
          </a:r>
          <a:r>
            <a:rPr lang="en-GB" dirty="0" err="1"/>
            <a:t>aller</a:t>
          </a:r>
          <a:r>
            <a:rPr lang="en-GB" dirty="0"/>
            <a:t> </a:t>
          </a:r>
          <a:r>
            <a:rPr lang="en-GB" dirty="0" err="1"/>
            <a:t>Aufgaben</a:t>
          </a:r>
          <a:r>
            <a:rPr lang="en-GB" dirty="0"/>
            <a:t>, die </a:t>
          </a:r>
          <a:r>
            <a:rPr lang="en-GB" dirty="0" err="1"/>
            <a:t>im</a:t>
          </a:r>
          <a:r>
            <a:rPr lang="en-GB" dirty="0"/>
            <a:t> </a:t>
          </a:r>
          <a:r>
            <a:rPr lang="en-GB" dirty="0" err="1"/>
            <a:t>aktuellen</a:t>
          </a:r>
          <a:r>
            <a:rPr lang="en-GB" dirty="0"/>
            <a:t> Sprint </a:t>
          </a:r>
          <a:r>
            <a:rPr lang="en-GB" dirty="0" err="1"/>
            <a:t>umgesetzt</a:t>
          </a:r>
          <a:r>
            <a:rPr lang="en-GB" dirty="0"/>
            <a:t> </a:t>
          </a:r>
          <a:r>
            <a:rPr lang="en-GB" dirty="0" err="1"/>
            <a:t>wurden</a:t>
          </a:r>
          <a:br>
            <a:rPr lang="en-GB" dirty="0"/>
          </a:br>
          <a:r>
            <a:rPr lang="en-GB" dirty="0" err="1"/>
            <a:t>Stellt</a:t>
          </a:r>
          <a:r>
            <a:rPr lang="en-GB" dirty="0"/>
            <a:t> das </a:t>
          </a:r>
          <a:r>
            <a:rPr lang="en-GB" dirty="0" err="1"/>
            <a:t>Sprintziel</a:t>
          </a:r>
          <a:r>
            <a:rPr lang="en-GB" dirty="0"/>
            <a:t> </a:t>
          </a:r>
          <a:r>
            <a:rPr lang="en-GB" dirty="0" err="1"/>
            <a:t>dar</a:t>
          </a:r>
          <a:br>
            <a:rPr lang="en-GB" dirty="0"/>
          </a:br>
          <a:r>
            <a:rPr lang="en-GB" dirty="0" err="1"/>
            <a:t>Transparente</a:t>
          </a:r>
          <a:r>
            <a:rPr lang="en-GB" dirty="0"/>
            <a:t> </a:t>
          </a:r>
          <a:r>
            <a:rPr lang="en-GB" dirty="0" err="1"/>
            <a:t>Grundlage</a:t>
          </a:r>
          <a:r>
            <a:rPr lang="en-GB" dirty="0"/>
            <a:t> für Feedback </a:t>
          </a:r>
          <a:r>
            <a:rPr lang="en-GB" dirty="0" err="1"/>
            <a:t>durch</a:t>
          </a:r>
          <a:r>
            <a:rPr lang="en-GB" dirty="0"/>
            <a:t> Stakeholder</a:t>
          </a:r>
          <a:br>
            <a:rPr lang="en-GB" dirty="0"/>
          </a:br>
          <a:r>
            <a:rPr lang="en-GB" dirty="0"/>
            <a:t>Muss </a:t>
          </a:r>
          <a:r>
            <a:rPr lang="en-GB" dirty="0" err="1"/>
            <a:t>funktionsfähig</a:t>
          </a:r>
          <a:r>
            <a:rPr lang="en-GB" dirty="0"/>
            <a:t> und </a:t>
          </a:r>
          <a:r>
            <a:rPr lang="en-GB" dirty="0" err="1"/>
            <a:t>potenziell</a:t>
          </a:r>
          <a:r>
            <a:rPr lang="en-GB" dirty="0"/>
            <a:t> </a:t>
          </a:r>
          <a:r>
            <a:rPr lang="en-GB" dirty="0" err="1"/>
            <a:t>auslieferbar</a:t>
          </a:r>
          <a:r>
            <a:rPr lang="en-GB" dirty="0"/>
            <a:t> sein</a:t>
          </a:r>
          <a:endParaRPr lang="en-US" dirty="0"/>
        </a:p>
      </dgm:t>
    </dgm:pt>
    <dgm:pt modelId="{C4E2B673-30AF-4D24-B9DB-FE0D1D84428C}" type="parTrans" cxnId="{BD0283C4-50E2-4920-9878-5CD207071257}">
      <dgm:prSet/>
      <dgm:spPr/>
      <dgm:t>
        <a:bodyPr/>
        <a:lstStyle/>
        <a:p>
          <a:endParaRPr lang="en-US"/>
        </a:p>
      </dgm:t>
    </dgm:pt>
    <dgm:pt modelId="{14FC7172-8E89-4CC1-90F7-6ED272CF681E}" type="sibTrans" cxnId="{BD0283C4-50E2-4920-9878-5CD207071257}">
      <dgm:prSet/>
      <dgm:spPr/>
      <dgm:t>
        <a:bodyPr/>
        <a:lstStyle/>
        <a:p>
          <a:endParaRPr lang="en-US"/>
        </a:p>
      </dgm:t>
    </dgm:pt>
    <dgm:pt modelId="{11472B58-D515-402F-B216-D6DCED214C7D}" type="pres">
      <dgm:prSet presAssocID="{621CCBD5-1F40-4D45-AE2D-31FCF697E03B}" presName="root" presStyleCnt="0">
        <dgm:presLayoutVars>
          <dgm:dir/>
          <dgm:resizeHandles val="exact"/>
        </dgm:presLayoutVars>
      </dgm:prSet>
      <dgm:spPr/>
    </dgm:pt>
    <dgm:pt modelId="{F478BDAB-6F90-49BA-911C-4986A4B540A6}" type="pres">
      <dgm:prSet presAssocID="{A0EB5882-13F8-4C00-AF70-C8D6EE7EA926}" presName="compNode" presStyleCnt="0"/>
      <dgm:spPr/>
    </dgm:pt>
    <dgm:pt modelId="{EEF2BFA5-BFA2-4E69-B849-3A4D8504B891}" type="pres">
      <dgm:prSet presAssocID="{A0EB5882-13F8-4C00-AF70-C8D6EE7EA926}" presName="bgRect" presStyleLbl="bgShp" presStyleIdx="0" presStyleCnt="3"/>
      <dgm:spPr/>
    </dgm:pt>
    <dgm:pt modelId="{4DC2DE0E-BD4C-44E9-955A-A197DF4284C3}" type="pres">
      <dgm:prSet presAssocID="{A0EB5882-13F8-4C00-AF70-C8D6EE7EA92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0A8EBE-6391-4A97-9C4B-DE45DE42F21A}" type="pres">
      <dgm:prSet presAssocID="{A0EB5882-13F8-4C00-AF70-C8D6EE7EA926}" presName="spaceRect" presStyleCnt="0"/>
      <dgm:spPr/>
    </dgm:pt>
    <dgm:pt modelId="{82F66C99-BB49-427A-BCF8-8A96511EFAF5}" type="pres">
      <dgm:prSet presAssocID="{A0EB5882-13F8-4C00-AF70-C8D6EE7EA926}" presName="parTx" presStyleLbl="revTx" presStyleIdx="0" presStyleCnt="3">
        <dgm:presLayoutVars>
          <dgm:chMax val="0"/>
          <dgm:chPref val="0"/>
        </dgm:presLayoutVars>
      </dgm:prSet>
      <dgm:spPr/>
    </dgm:pt>
    <dgm:pt modelId="{53A6614E-6A75-45F1-ADDE-CD4FD3C5DF84}" type="pres">
      <dgm:prSet presAssocID="{76298920-8E4C-46F0-845A-6F14D9EF6D9A}" presName="sibTrans" presStyleCnt="0"/>
      <dgm:spPr/>
    </dgm:pt>
    <dgm:pt modelId="{3B733471-BA64-4635-B6D5-A9B920A0709B}" type="pres">
      <dgm:prSet presAssocID="{FBAA229A-AD47-41FC-BB85-BC2BC1C40C3D}" presName="compNode" presStyleCnt="0"/>
      <dgm:spPr/>
    </dgm:pt>
    <dgm:pt modelId="{E7263EAE-FE46-42E9-A87F-15ECD742C2F9}" type="pres">
      <dgm:prSet presAssocID="{FBAA229A-AD47-41FC-BB85-BC2BC1C40C3D}" presName="bgRect" presStyleLbl="bgShp" presStyleIdx="1" presStyleCnt="3"/>
      <dgm:spPr/>
    </dgm:pt>
    <dgm:pt modelId="{6A477833-5BF5-4B71-9F8F-F8CBCB562CBF}" type="pres">
      <dgm:prSet presAssocID="{FBAA229A-AD47-41FC-BB85-BC2BC1C40C3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E439B7E-B85D-4D58-8AB6-9B71301FEB64}" type="pres">
      <dgm:prSet presAssocID="{FBAA229A-AD47-41FC-BB85-BC2BC1C40C3D}" presName="spaceRect" presStyleCnt="0"/>
      <dgm:spPr/>
    </dgm:pt>
    <dgm:pt modelId="{8384FF75-19DA-4EAF-9305-58544A5F9FE5}" type="pres">
      <dgm:prSet presAssocID="{FBAA229A-AD47-41FC-BB85-BC2BC1C40C3D}" presName="parTx" presStyleLbl="revTx" presStyleIdx="1" presStyleCnt="3">
        <dgm:presLayoutVars>
          <dgm:chMax val="0"/>
          <dgm:chPref val="0"/>
        </dgm:presLayoutVars>
      </dgm:prSet>
      <dgm:spPr/>
    </dgm:pt>
    <dgm:pt modelId="{FFCC653F-393F-4974-B358-CCCD5DE8A0A2}" type="pres">
      <dgm:prSet presAssocID="{8EB7BA18-BFFF-4A8F-83AE-320FA845B3CE}" presName="sibTrans" presStyleCnt="0"/>
      <dgm:spPr/>
    </dgm:pt>
    <dgm:pt modelId="{25459DB9-E55F-45EC-9ABA-F7F40E001F40}" type="pres">
      <dgm:prSet presAssocID="{A3196F3B-9571-4428-BE77-E09BA260CED7}" presName="compNode" presStyleCnt="0"/>
      <dgm:spPr/>
    </dgm:pt>
    <dgm:pt modelId="{06766485-3ED3-4D45-BF7E-083C855D2A91}" type="pres">
      <dgm:prSet presAssocID="{A3196F3B-9571-4428-BE77-E09BA260CED7}" presName="bgRect" presStyleLbl="bgShp" presStyleIdx="2" presStyleCnt="3"/>
      <dgm:spPr/>
    </dgm:pt>
    <dgm:pt modelId="{3D345711-D37A-444C-A4A6-3ECF887D41A5}" type="pres">
      <dgm:prSet presAssocID="{A3196F3B-9571-4428-BE77-E09BA260CED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BA34F31-DFCD-4941-9989-E98FA1BEE7AB}" type="pres">
      <dgm:prSet presAssocID="{A3196F3B-9571-4428-BE77-E09BA260CED7}" presName="spaceRect" presStyleCnt="0"/>
      <dgm:spPr/>
    </dgm:pt>
    <dgm:pt modelId="{4E6DB7A3-693E-4B1F-9A4D-78F6533AFF62}" type="pres">
      <dgm:prSet presAssocID="{A3196F3B-9571-4428-BE77-E09BA260CED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2DD8E05-CE82-48E9-BC65-3542229CAF1D}" srcId="{621CCBD5-1F40-4D45-AE2D-31FCF697E03B}" destId="{FBAA229A-AD47-41FC-BB85-BC2BC1C40C3D}" srcOrd="1" destOrd="0" parTransId="{4A5074F9-24B6-4FFB-B4C1-1D69D28B33D5}" sibTransId="{8EB7BA18-BFFF-4A8F-83AE-320FA845B3CE}"/>
    <dgm:cxn modelId="{4AA38127-814E-456B-BF74-7A3E557381B3}" type="presOf" srcId="{A0EB5882-13F8-4C00-AF70-C8D6EE7EA926}" destId="{82F66C99-BB49-427A-BCF8-8A96511EFAF5}" srcOrd="0" destOrd="0" presId="urn:microsoft.com/office/officeart/2018/2/layout/IconVerticalSolidList"/>
    <dgm:cxn modelId="{A2486C29-7350-4F85-8A4C-7F8F4E4D2751}" type="presOf" srcId="{FBAA229A-AD47-41FC-BB85-BC2BC1C40C3D}" destId="{8384FF75-19DA-4EAF-9305-58544A5F9FE5}" srcOrd="0" destOrd="0" presId="urn:microsoft.com/office/officeart/2018/2/layout/IconVerticalSolidList"/>
    <dgm:cxn modelId="{37DDA22B-CC61-422B-871D-0C44BEAF71A4}" srcId="{621CCBD5-1F40-4D45-AE2D-31FCF697E03B}" destId="{A0EB5882-13F8-4C00-AF70-C8D6EE7EA926}" srcOrd="0" destOrd="0" parTransId="{5CBE588F-5022-46E2-8FE0-46B72313EC14}" sibTransId="{76298920-8E4C-46F0-845A-6F14D9EF6D9A}"/>
    <dgm:cxn modelId="{C5A26B8D-F66B-44A4-82B2-AB4D1F6CD61C}" type="presOf" srcId="{621CCBD5-1F40-4D45-AE2D-31FCF697E03B}" destId="{11472B58-D515-402F-B216-D6DCED214C7D}" srcOrd="0" destOrd="0" presId="urn:microsoft.com/office/officeart/2018/2/layout/IconVerticalSolidList"/>
    <dgm:cxn modelId="{A4A33AAB-4D46-4372-8413-800AFDFC0457}" type="presOf" srcId="{A3196F3B-9571-4428-BE77-E09BA260CED7}" destId="{4E6DB7A3-693E-4B1F-9A4D-78F6533AFF62}" srcOrd="0" destOrd="0" presId="urn:microsoft.com/office/officeart/2018/2/layout/IconVerticalSolidList"/>
    <dgm:cxn modelId="{BD0283C4-50E2-4920-9878-5CD207071257}" srcId="{621CCBD5-1F40-4D45-AE2D-31FCF697E03B}" destId="{A3196F3B-9571-4428-BE77-E09BA260CED7}" srcOrd="2" destOrd="0" parTransId="{C4E2B673-30AF-4D24-B9DB-FE0D1D84428C}" sibTransId="{14FC7172-8E89-4CC1-90F7-6ED272CF681E}"/>
    <dgm:cxn modelId="{1DE5E7BA-93CA-4DC6-8741-D24D896283C4}" type="presParOf" srcId="{11472B58-D515-402F-B216-D6DCED214C7D}" destId="{F478BDAB-6F90-49BA-911C-4986A4B540A6}" srcOrd="0" destOrd="0" presId="urn:microsoft.com/office/officeart/2018/2/layout/IconVerticalSolidList"/>
    <dgm:cxn modelId="{949195CB-0619-44B2-A2F0-201ADA9AE226}" type="presParOf" srcId="{F478BDAB-6F90-49BA-911C-4986A4B540A6}" destId="{EEF2BFA5-BFA2-4E69-B849-3A4D8504B891}" srcOrd="0" destOrd="0" presId="urn:microsoft.com/office/officeart/2018/2/layout/IconVerticalSolidList"/>
    <dgm:cxn modelId="{F19FB6C5-775A-4C8E-8747-B6E037E2061B}" type="presParOf" srcId="{F478BDAB-6F90-49BA-911C-4986A4B540A6}" destId="{4DC2DE0E-BD4C-44E9-955A-A197DF4284C3}" srcOrd="1" destOrd="0" presId="urn:microsoft.com/office/officeart/2018/2/layout/IconVerticalSolidList"/>
    <dgm:cxn modelId="{E1718D3B-37CE-4A2E-9B9F-C8E3B34846AC}" type="presParOf" srcId="{F478BDAB-6F90-49BA-911C-4986A4B540A6}" destId="{390A8EBE-6391-4A97-9C4B-DE45DE42F21A}" srcOrd="2" destOrd="0" presId="urn:microsoft.com/office/officeart/2018/2/layout/IconVerticalSolidList"/>
    <dgm:cxn modelId="{3E888853-F5AC-466E-8EC1-206B75FE6218}" type="presParOf" srcId="{F478BDAB-6F90-49BA-911C-4986A4B540A6}" destId="{82F66C99-BB49-427A-BCF8-8A96511EFAF5}" srcOrd="3" destOrd="0" presId="urn:microsoft.com/office/officeart/2018/2/layout/IconVerticalSolidList"/>
    <dgm:cxn modelId="{7BBDE8AE-E006-4987-8C1F-9B060AA29CD4}" type="presParOf" srcId="{11472B58-D515-402F-B216-D6DCED214C7D}" destId="{53A6614E-6A75-45F1-ADDE-CD4FD3C5DF84}" srcOrd="1" destOrd="0" presId="urn:microsoft.com/office/officeart/2018/2/layout/IconVerticalSolidList"/>
    <dgm:cxn modelId="{C1B4CBC2-99AE-4EF1-BB5B-B45C5ED733CB}" type="presParOf" srcId="{11472B58-D515-402F-B216-D6DCED214C7D}" destId="{3B733471-BA64-4635-B6D5-A9B920A0709B}" srcOrd="2" destOrd="0" presId="urn:microsoft.com/office/officeart/2018/2/layout/IconVerticalSolidList"/>
    <dgm:cxn modelId="{250DD429-6C3B-466C-B09E-A6143FF96A84}" type="presParOf" srcId="{3B733471-BA64-4635-B6D5-A9B920A0709B}" destId="{E7263EAE-FE46-42E9-A87F-15ECD742C2F9}" srcOrd="0" destOrd="0" presId="urn:microsoft.com/office/officeart/2018/2/layout/IconVerticalSolidList"/>
    <dgm:cxn modelId="{B347DD06-D879-42CE-AE6C-EA0E94007099}" type="presParOf" srcId="{3B733471-BA64-4635-B6D5-A9B920A0709B}" destId="{6A477833-5BF5-4B71-9F8F-F8CBCB562CBF}" srcOrd="1" destOrd="0" presId="urn:microsoft.com/office/officeart/2018/2/layout/IconVerticalSolidList"/>
    <dgm:cxn modelId="{A2DC083B-8271-48A8-8405-4FC7190507FB}" type="presParOf" srcId="{3B733471-BA64-4635-B6D5-A9B920A0709B}" destId="{8E439B7E-B85D-4D58-8AB6-9B71301FEB64}" srcOrd="2" destOrd="0" presId="urn:microsoft.com/office/officeart/2018/2/layout/IconVerticalSolidList"/>
    <dgm:cxn modelId="{C61783B6-8AC7-4A30-ABE8-A1CB37A62BCA}" type="presParOf" srcId="{3B733471-BA64-4635-B6D5-A9B920A0709B}" destId="{8384FF75-19DA-4EAF-9305-58544A5F9FE5}" srcOrd="3" destOrd="0" presId="urn:microsoft.com/office/officeart/2018/2/layout/IconVerticalSolidList"/>
    <dgm:cxn modelId="{928AD21C-0A46-4CC4-912D-329C8FF16832}" type="presParOf" srcId="{11472B58-D515-402F-B216-D6DCED214C7D}" destId="{FFCC653F-393F-4974-B358-CCCD5DE8A0A2}" srcOrd="3" destOrd="0" presId="urn:microsoft.com/office/officeart/2018/2/layout/IconVerticalSolidList"/>
    <dgm:cxn modelId="{A8401DA2-92D8-4143-B275-C787B793E163}" type="presParOf" srcId="{11472B58-D515-402F-B216-D6DCED214C7D}" destId="{25459DB9-E55F-45EC-9ABA-F7F40E001F40}" srcOrd="4" destOrd="0" presId="urn:microsoft.com/office/officeart/2018/2/layout/IconVerticalSolidList"/>
    <dgm:cxn modelId="{7A970BB2-21CB-4AC6-8405-2398729A7789}" type="presParOf" srcId="{25459DB9-E55F-45EC-9ABA-F7F40E001F40}" destId="{06766485-3ED3-4D45-BF7E-083C855D2A91}" srcOrd="0" destOrd="0" presId="urn:microsoft.com/office/officeart/2018/2/layout/IconVerticalSolidList"/>
    <dgm:cxn modelId="{2CF148F4-E218-43D1-9060-39D7025E16EE}" type="presParOf" srcId="{25459DB9-E55F-45EC-9ABA-F7F40E001F40}" destId="{3D345711-D37A-444C-A4A6-3ECF887D41A5}" srcOrd="1" destOrd="0" presId="urn:microsoft.com/office/officeart/2018/2/layout/IconVerticalSolidList"/>
    <dgm:cxn modelId="{A20335C7-8103-442B-9330-77E786079C35}" type="presParOf" srcId="{25459DB9-E55F-45EC-9ABA-F7F40E001F40}" destId="{9BA34F31-DFCD-4941-9989-E98FA1BEE7AB}" srcOrd="2" destOrd="0" presId="urn:microsoft.com/office/officeart/2018/2/layout/IconVerticalSolidList"/>
    <dgm:cxn modelId="{DED8BE76-95C8-4F55-BA60-336D4FF12C56}" type="presParOf" srcId="{25459DB9-E55F-45EC-9ABA-F7F40E001F40}" destId="{4E6DB7A3-693E-4B1F-9A4D-78F6533AFF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501647-807A-460E-B64A-39929FD3A25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EC95E8-E772-4B92-BA49-2A189A9B3DAE}">
      <dgm:prSet/>
      <dgm:spPr/>
      <dgm:t>
        <a:bodyPr/>
        <a:lstStyle/>
        <a:p>
          <a:r>
            <a:rPr lang="en-GB" dirty="0" err="1"/>
            <a:t>Iterativer</a:t>
          </a:r>
          <a:r>
            <a:rPr lang="en-GB" dirty="0"/>
            <a:t> </a:t>
          </a:r>
          <a:r>
            <a:rPr lang="en-GB" dirty="0" err="1"/>
            <a:t>Zyklus</a:t>
          </a:r>
          <a:r>
            <a:rPr lang="en-GB" dirty="0"/>
            <a:t> </a:t>
          </a:r>
          <a:r>
            <a:rPr lang="en-GB" dirty="0" err="1"/>
            <a:t>aus</a:t>
          </a:r>
          <a:r>
            <a:rPr lang="en-GB" dirty="0"/>
            <a:t> Sprints (je 2 - 4 </a:t>
          </a:r>
          <a:r>
            <a:rPr lang="en-GB" dirty="0" err="1"/>
            <a:t>Wochen</a:t>
          </a:r>
          <a:r>
            <a:rPr lang="en-GB" dirty="0"/>
            <a:t>)</a:t>
          </a:r>
          <a:endParaRPr lang="en-US" dirty="0"/>
        </a:p>
      </dgm:t>
    </dgm:pt>
    <dgm:pt modelId="{E83E8477-350D-4914-A69C-AE03D84FC4B3}" type="parTrans" cxnId="{FF6B4290-AF31-4950-9F1B-A5538559DDAB}">
      <dgm:prSet/>
      <dgm:spPr/>
      <dgm:t>
        <a:bodyPr/>
        <a:lstStyle/>
        <a:p>
          <a:endParaRPr lang="en-US"/>
        </a:p>
      </dgm:t>
    </dgm:pt>
    <dgm:pt modelId="{FF814CF5-EC5C-4AA0-BE38-91A77DECBF53}" type="sibTrans" cxnId="{FF6B4290-AF31-4950-9F1B-A5538559DDAB}">
      <dgm:prSet/>
      <dgm:spPr/>
      <dgm:t>
        <a:bodyPr/>
        <a:lstStyle/>
        <a:p>
          <a:endParaRPr lang="en-US"/>
        </a:p>
      </dgm:t>
    </dgm:pt>
    <dgm:pt modelId="{1164D21D-9335-48DF-8088-D82B6EC6DAC4}">
      <dgm:prSet/>
      <dgm:spPr/>
      <dgm:t>
        <a:bodyPr/>
        <a:lstStyle/>
        <a:p>
          <a:r>
            <a:rPr lang="en-GB" dirty="0"/>
            <a:t>Start </a:t>
          </a:r>
          <a:r>
            <a:rPr lang="en-GB" dirty="0" err="1"/>
            <a:t>mit</a:t>
          </a:r>
          <a:r>
            <a:rPr lang="en-GB" dirty="0"/>
            <a:t> Sprint Planning, Team </a:t>
          </a:r>
          <a:r>
            <a:rPr lang="en-GB" dirty="0" err="1"/>
            <a:t>legt</a:t>
          </a:r>
          <a:r>
            <a:rPr lang="en-GB" dirty="0"/>
            <a:t> </a:t>
          </a:r>
          <a:r>
            <a:rPr lang="en-GB" dirty="0" err="1"/>
            <a:t>Aufgaben</a:t>
          </a:r>
          <a:r>
            <a:rPr lang="en-GB" dirty="0"/>
            <a:t> &amp; Ziel fest</a:t>
          </a:r>
          <a:endParaRPr lang="en-US" dirty="0"/>
        </a:p>
      </dgm:t>
    </dgm:pt>
    <dgm:pt modelId="{F8914D58-AC78-4CB4-8ED3-6F52B5B04CA9}" type="parTrans" cxnId="{3572DC02-FE83-4DF5-A321-E1D964D24BA5}">
      <dgm:prSet/>
      <dgm:spPr/>
      <dgm:t>
        <a:bodyPr/>
        <a:lstStyle/>
        <a:p>
          <a:endParaRPr lang="en-US"/>
        </a:p>
      </dgm:t>
    </dgm:pt>
    <dgm:pt modelId="{13EA554D-3380-4093-B6D1-CE5DCB8F7FF1}" type="sibTrans" cxnId="{3572DC02-FE83-4DF5-A321-E1D964D24BA5}">
      <dgm:prSet/>
      <dgm:spPr/>
      <dgm:t>
        <a:bodyPr/>
        <a:lstStyle/>
        <a:p>
          <a:endParaRPr lang="en-US"/>
        </a:p>
      </dgm:t>
    </dgm:pt>
    <dgm:pt modelId="{1798DFB3-FA03-447E-B044-1C7CE120F07B}">
      <dgm:prSet/>
      <dgm:spPr/>
      <dgm:t>
        <a:bodyPr/>
        <a:lstStyle/>
        <a:p>
          <a:r>
            <a:rPr lang="en-GB" dirty="0" err="1"/>
            <a:t>Tägliches</a:t>
          </a:r>
          <a:r>
            <a:rPr lang="en-GB" dirty="0"/>
            <a:t> Daily Scrum (Kurzer </a:t>
          </a:r>
          <a:r>
            <a:rPr lang="en-GB" dirty="0" err="1"/>
            <a:t>Austausch</a:t>
          </a:r>
          <a:r>
            <a:rPr lang="en-GB" dirty="0"/>
            <a:t> </a:t>
          </a:r>
          <a:r>
            <a:rPr lang="en-GB" dirty="0" err="1"/>
            <a:t>zum</a:t>
          </a:r>
          <a:r>
            <a:rPr lang="en-GB" dirty="0"/>
            <a:t> Fortschritt)</a:t>
          </a:r>
          <a:endParaRPr lang="en-US" dirty="0"/>
        </a:p>
      </dgm:t>
    </dgm:pt>
    <dgm:pt modelId="{4323F375-C00A-43EE-83CF-475DB63D1300}" type="parTrans" cxnId="{B1048B74-1E12-4225-837D-6B792C7C76BE}">
      <dgm:prSet/>
      <dgm:spPr/>
      <dgm:t>
        <a:bodyPr/>
        <a:lstStyle/>
        <a:p>
          <a:endParaRPr lang="en-US"/>
        </a:p>
      </dgm:t>
    </dgm:pt>
    <dgm:pt modelId="{90A171A8-36EB-4E66-8E9C-5CA158156991}" type="sibTrans" cxnId="{B1048B74-1E12-4225-837D-6B792C7C76BE}">
      <dgm:prSet/>
      <dgm:spPr/>
      <dgm:t>
        <a:bodyPr/>
        <a:lstStyle/>
        <a:p>
          <a:endParaRPr lang="en-US"/>
        </a:p>
      </dgm:t>
    </dgm:pt>
    <dgm:pt modelId="{CEDF1937-91F2-42B2-9D57-DB90411C5E5A}">
      <dgm:prSet/>
      <dgm:spPr/>
      <dgm:t>
        <a:bodyPr/>
        <a:lstStyle/>
        <a:p>
          <a:r>
            <a:rPr lang="en-GB"/>
            <a:t>Sprint Review</a:t>
          </a:r>
          <a:endParaRPr lang="en-US"/>
        </a:p>
      </dgm:t>
    </dgm:pt>
    <dgm:pt modelId="{DD0ABF85-232A-4971-BE96-29348E3EB897}" type="parTrans" cxnId="{69061CFD-1FA2-48FB-AD0E-C3442919FD6C}">
      <dgm:prSet/>
      <dgm:spPr/>
      <dgm:t>
        <a:bodyPr/>
        <a:lstStyle/>
        <a:p>
          <a:endParaRPr lang="en-US"/>
        </a:p>
      </dgm:t>
    </dgm:pt>
    <dgm:pt modelId="{2667AC5B-15ED-4D8B-9472-F691144C66B3}" type="sibTrans" cxnId="{69061CFD-1FA2-48FB-AD0E-C3442919FD6C}">
      <dgm:prSet/>
      <dgm:spPr/>
      <dgm:t>
        <a:bodyPr/>
        <a:lstStyle/>
        <a:p>
          <a:endParaRPr lang="en-US"/>
        </a:p>
      </dgm:t>
    </dgm:pt>
    <dgm:pt modelId="{3E0DC5E7-6DD5-43B5-8A8F-D100604CBECB}">
      <dgm:prSet/>
      <dgm:spPr/>
      <dgm:t>
        <a:bodyPr/>
        <a:lstStyle/>
        <a:p>
          <a:r>
            <a:rPr lang="en-GB"/>
            <a:t>Retrospektive</a:t>
          </a:r>
          <a:endParaRPr lang="en-US"/>
        </a:p>
      </dgm:t>
    </dgm:pt>
    <dgm:pt modelId="{02FEAECB-DE70-4322-9442-98DEE5ED9284}" type="parTrans" cxnId="{A0FCFA21-9A4E-4ED5-9F5B-DEC0E8FD5583}">
      <dgm:prSet/>
      <dgm:spPr/>
      <dgm:t>
        <a:bodyPr/>
        <a:lstStyle/>
        <a:p>
          <a:endParaRPr lang="en-US"/>
        </a:p>
      </dgm:t>
    </dgm:pt>
    <dgm:pt modelId="{BB881448-4438-47F9-B098-C2558D65A60F}" type="sibTrans" cxnId="{A0FCFA21-9A4E-4ED5-9F5B-DEC0E8FD5583}">
      <dgm:prSet/>
      <dgm:spPr/>
      <dgm:t>
        <a:bodyPr/>
        <a:lstStyle/>
        <a:p>
          <a:endParaRPr lang="en-US"/>
        </a:p>
      </dgm:t>
    </dgm:pt>
    <dgm:pt modelId="{46FBD8A1-3161-4A0F-ABF9-10095A3990ED}">
      <dgm:prSet/>
      <dgm:spPr/>
      <dgm:t>
        <a:bodyPr/>
        <a:lstStyle/>
        <a:p>
          <a:r>
            <a:rPr lang="en-GB" dirty="0" err="1"/>
            <a:t>Ergebnis</a:t>
          </a:r>
          <a:r>
            <a:rPr lang="en-GB" dirty="0"/>
            <a:t> </a:t>
          </a:r>
          <a:r>
            <a:rPr lang="en-GB" dirty="0" err="1"/>
            <a:t>jedes</a:t>
          </a:r>
          <a:r>
            <a:rPr lang="en-GB" dirty="0"/>
            <a:t> Sprints: </a:t>
          </a:r>
          <a:r>
            <a:rPr lang="en-GB" dirty="0" err="1"/>
            <a:t>funktionsfähiges</a:t>
          </a:r>
          <a:r>
            <a:rPr lang="en-GB" dirty="0"/>
            <a:t> </a:t>
          </a:r>
          <a:r>
            <a:rPr lang="en-GB" dirty="0" err="1"/>
            <a:t>Produkt</a:t>
          </a:r>
          <a:r>
            <a:rPr lang="en-GB" dirty="0"/>
            <a:t> (Increment)</a:t>
          </a:r>
          <a:endParaRPr lang="en-US" dirty="0"/>
        </a:p>
      </dgm:t>
    </dgm:pt>
    <dgm:pt modelId="{DC14089C-5702-4575-91C2-74273E057BCD}" type="parTrans" cxnId="{2BC32E3D-DBF4-4CB2-9D32-A1AEB1439E75}">
      <dgm:prSet/>
      <dgm:spPr/>
      <dgm:t>
        <a:bodyPr/>
        <a:lstStyle/>
        <a:p>
          <a:endParaRPr lang="en-US"/>
        </a:p>
      </dgm:t>
    </dgm:pt>
    <dgm:pt modelId="{54A6DA49-ED5E-4643-A857-83FD216CC381}" type="sibTrans" cxnId="{2BC32E3D-DBF4-4CB2-9D32-A1AEB1439E75}">
      <dgm:prSet/>
      <dgm:spPr/>
      <dgm:t>
        <a:bodyPr/>
        <a:lstStyle/>
        <a:p>
          <a:endParaRPr lang="en-US"/>
        </a:p>
      </dgm:t>
    </dgm:pt>
    <dgm:pt modelId="{53F9AF5D-EFD0-C440-93DE-477196AAB006}" type="pres">
      <dgm:prSet presAssocID="{11501647-807A-460E-B64A-39929FD3A25E}" presName="Name0" presStyleCnt="0">
        <dgm:presLayoutVars>
          <dgm:dir/>
          <dgm:resizeHandles val="exact"/>
        </dgm:presLayoutVars>
      </dgm:prSet>
      <dgm:spPr/>
    </dgm:pt>
    <dgm:pt modelId="{413472EF-35E9-F44C-B7D2-F9E871BB0E3D}" type="pres">
      <dgm:prSet presAssocID="{48EC95E8-E772-4B92-BA49-2A189A9B3DAE}" presName="node" presStyleLbl="node1" presStyleIdx="0" presStyleCnt="6">
        <dgm:presLayoutVars>
          <dgm:bulletEnabled val="1"/>
        </dgm:presLayoutVars>
      </dgm:prSet>
      <dgm:spPr/>
    </dgm:pt>
    <dgm:pt modelId="{3DC36FD8-D91C-5F4D-ABC1-4611FF4575BC}" type="pres">
      <dgm:prSet presAssocID="{FF814CF5-EC5C-4AA0-BE38-91A77DECBF53}" presName="sibTrans" presStyleLbl="sibTrans1D1" presStyleIdx="0" presStyleCnt="5"/>
      <dgm:spPr/>
    </dgm:pt>
    <dgm:pt modelId="{230EFD03-E6F5-FF41-9D39-599AE1662FF2}" type="pres">
      <dgm:prSet presAssocID="{FF814CF5-EC5C-4AA0-BE38-91A77DECBF53}" presName="connectorText" presStyleLbl="sibTrans1D1" presStyleIdx="0" presStyleCnt="5"/>
      <dgm:spPr/>
    </dgm:pt>
    <dgm:pt modelId="{9C2F38B7-0E7D-924A-98C7-69EE4F6A5A98}" type="pres">
      <dgm:prSet presAssocID="{1164D21D-9335-48DF-8088-D82B6EC6DAC4}" presName="node" presStyleLbl="node1" presStyleIdx="1" presStyleCnt="6">
        <dgm:presLayoutVars>
          <dgm:bulletEnabled val="1"/>
        </dgm:presLayoutVars>
      </dgm:prSet>
      <dgm:spPr/>
    </dgm:pt>
    <dgm:pt modelId="{CCD4F4BC-191A-C44A-B952-8680335B238D}" type="pres">
      <dgm:prSet presAssocID="{13EA554D-3380-4093-B6D1-CE5DCB8F7FF1}" presName="sibTrans" presStyleLbl="sibTrans1D1" presStyleIdx="1" presStyleCnt="5"/>
      <dgm:spPr/>
    </dgm:pt>
    <dgm:pt modelId="{01211474-F021-6C46-B9F3-B45FA3355E68}" type="pres">
      <dgm:prSet presAssocID="{13EA554D-3380-4093-B6D1-CE5DCB8F7FF1}" presName="connectorText" presStyleLbl="sibTrans1D1" presStyleIdx="1" presStyleCnt="5"/>
      <dgm:spPr/>
    </dgm:pt>
    <dgm:pt modelId="{539857B7-6490-514E-8ACA-F7C783EE6A46}" type="pres">
      <dgm:prSet presAssocID="{1798DFB3-FA03-447E-B044-1C7CE120F07B}" presName="node" presStyleLbl="node1" presStyleIdx="2" presStyleCnt="6">
        <dgm:presLayoutVars>
          <dgm:bulletEnabled val="1"/>
        </dgm:presLayoutVars>
      </dgm:prSet>
      <dgm:spPr/>
    </dgm:pt>
    <dgm:pt modelId="{02A8C131-66AB-9242-A6D5-A4E817D4D025}" type="pres">
      <dgm:prSet presAssocID="{90A171A8-36EB-4E66-8E9C-5CA158156991}" presName="sibTrans" presStyleLbl="sibTrans1D1" presStyleIdx="2" presStyleCnt="5"/>
      <dgm:spPr/>
    </dgm:pt>
    <dgm:pt modelId="{9759ED55-EC01-E441-9D75-87FF8EF8D896}" type="pres">
      <dgm:prSet presAssocID="{90A171A8-36EB-4E66-8E9C-5CA158156991}" presName="connectorText" presStyleLbl="sibTrans1D1" presStyleIdx="2" presStyleCnt="5"/>
      <dgm:spPr/>
    </dgm:pt>
    <dgm:pt modelId="{603DDF5F-DCD0-2941-A1B7-0B4AD5911F35}" type="pres">
      <dgm:prSet presAssocID="{CEDF1937-91F2-42B2-9D57-DB90411C5E5A}" presName="node" presStyleLbl="node1" presStyleIdx="3" presStyleCnt="6">
        <dgm:presLayoutVars>
          <dgm:bulletEnabled val="1"/>
        </dgm:presLayoutVars>
      </dgm:prSet>
      <dgm:spPr/>
    </dgm:pt>
    <dgm:pt modelId="{24948F68-5985-494F-BE7A-A8BF1C9D651C}" type="pres">
      <dgm:prSet presAssocID="{2667AC5B-15ED-4D8B-9472-F691144C66B3}" presName="sibTrans" presStyleLbl="sibTrans1D1" presStyleIdx="3" presStyleCnt="5"/>
      <dgm:spPr/>
    </dgm:pt>
    <dgm:pt modelId="{3795AD81-168B-8F43-8070-37689EA78F6B}" type="pres">
      <dgm:prSet presAssocID="{2667AC5B-15ED-4D8B-9472-F691144C66B3}" presName="connectorText" presStyleLbl="sibTrans1D1" presStyleIdx="3" presStyleCnt="5"/>
      <dgm:spPr/>
    </dgm:pt>
    <dgm:pt modelId="{0525FE1F-EB37-2044-B8F5-7EB3B77586D4}" type="pres">
      <dgm:prSet presAssocID="{3E0DC5E7-6DD5-43B5-8A8F-D100604CBECB}" presName="node" presStyleLbl="node1" presStyleIdx="4" presStyleCnt="6">
        <dgm:presLayoutVars>
          <dgm:bulletEnabled val="1"/>
        </dgm:presLayoutVars>
      </dgm:prSet>
      <dgm:spPr/>
    </dgm:pt>
    <dgm:pt modelId="{1B36D648-FD07-A348-B24B-76D6AF59E028}" type="pres">
      <dgm:prSet presAssocID="{BB881448-4438-47F9-B098-C2558D65A60F}" presName="sibTrans" presStyleLbl="sibTrans1D1" presStyleIdx="4" presStyleCnt="5"/>
      <dgm:spPr/>
    </dgm:pt>
    <dgm:pt modelId="{7C80D721-B422-5A4A-BA44-F6164ED48871}" type="pres">
      <dgm:prSet presAssocID="{BB881448-4438-47F9-B098-C2558D65A60F}" presName="connectorText" presStyleLbl="sibTrans1D1" presStyleIdx="4" presStyleCnt="5"/>
      <dgm:spPr/>
    </dgm:pt>
    <dgm:pt modelId="{5175DF61-8BD1-0344-802F-BBEF4FB7357A}" type="pres">
      <dgm:prSet presAssocID="{46FBD8A1-3161-4A0F-ABF9-10095A3990ED}" presName="node" presStyleLbl="node1" presStyleIdx="5" presStyleCnt="6">
        <dgm:presLayoutVars>
          <dgm:bulletEnabled val="1"/>
        </dgm:presLayoutVars>
      </dgm:prSet>
      <dgm:spPr/>
    </dgm:pt>
  </dgm:ptLst>
  <dgm:cxnLst>
    <dgm:cxn modelId="{3572DC02-FE83-4DF5-A321-E1D964D24BA5}" srcId="{11501647-807A-460E-B64A-39929FD3A25E}" destId="{1164D21D-9335-48DF-8088-D82B6EC6DAC4}" srcOrd="1" destOrd="0" parTransId="{F8914D58-AC78-4CB4-8ED3-6F52B5B04CA9}" sibTransId="{13EA554D-3380-4093-B6D1-CE5DCB8F7FF1}"/>
    <dgm:cxn modelId="{43BF2603-F17A-C34D-8A59-8C0A5DC6E4FB}" type="presOf" srcId="{90A171A8-36EB-4E66-8E9C-5CA158156991}" destId="{02A8C131-66AB-9242-A6D5-A4E817D4D025}" srcOrd="0" destOrd="0" presId="urn:microsoft.com/office/officeart/2016/7/layout/RepeatingBendingProcessNew"/>
    <dgm:cxn modelId="{A0FCFA21-9A4E-4ED5-9F5B-DEC0E8FD5583}" srcId="{11501647-807A-460E-B64A-39929FD3A25E}" destId="{3E0DC5E7-6DD5-43B5-8A8F-D100604CBECB}" srcOrd="4" destOrd="0" parTransId="{02FEAECB-DE70-4322-9442-98DEE5ED9284}" sibTransId="{BB881448-4438-47F9-B098-C2558D65A60F}"/>
    <dgm:cxn modelId="{181ED425-9E1B-5544-8DBC-DA3F0895334E}" type="presOf" srcId="{13EA554D-3380-4093-B6D1-CE5DCB8F7FF1}" destId="{01211474-F021-6C46-B9F3-B45FA3355E68}" srcOrd="1" destOrd="0" presId="urn:microsoft.com/office/officeart/2016/7/layout/RepeatingBendingProcessNew"/>
    <dgm:cxn modelId="{9D1B8D34-3FF5-1348-9D6F-DE7F015F8B14}" type="presOf" srcId="{1164D21D-9335-48DF-8088-D82B6EC6DAC4}" destId="{9C2F38B7-0E7D-924A-98C7-69EE4F6A5A98}" srcOrd="0" destOrd="0" presId="urn:microsoft.com/office/officeart/2016/7/layout/RepeatingBendingProcessNew"/>
    <dgm:cxn modelId="{D89D5A3B-47BD-EE41-AA52-2778C378765B}" type="presOf" srcId="{BB881448-4438-47F9-B098-C2558D65A60F}" destId="{7C80D721-B422-5A4A-BA44-F6164ED48871}" srcOrd="1" destOrd="0" presId="urn:microsoft.com/office/officeart/2016/7/layout/RepeatingBendingProcessNew"/>
    <dgm:cxn modelId="{2BC32E3D-DBF4-4CB2-9D32-A1AEB1439E75}" srcId="{11501647-807A-460E-B64A-39929FD3A25E}" destId="{46FBD8A1-3161-4A0F-ABF9-10095A3990ED}" srcOrd="5" destOrd="0" parTransId="{DC14089C-5702-4575-91C2-74273E057BCD}" sibTransId="{54A6DA49-ED5E-4643-A857-83FD216CC381}"/>
    <dgm:cxn modelId="{DABDE83D-6475-E74B-A694-628529747F87}" type="presOf" srcId="{CEDF1937-91F2-42B2-9D57-DB90411C5E5A}" destId="{603DDF5F-DCD0-2941-A1B7-0B4AD5911F35}" srcOrd="0" destOrd="0" presId="urn:microsoft.com/office/officeart/2016/7/layout/RepeatingBendingProcessNew"/>
    <dgm:cxn modelId="{F6D52A63-2AAC-C546-B7D2-91123AD1B8E0}" type="presOf" srcId="{11501647-807A-460E-B64A-39929FD3A25E}" destId="{53F9AF5D-EFD0-C440-93DE-477196AAB006}" srcOrd="0" destOrd="0" presId="urn:microsoft.com/office/officeart/2016/7/layout/RepeatingBendingProcessNew"/>
    <dgm:cxn modelId="{CC173B4D-D77E-054F-9EA0-7B0A92A9172C}" type="presOf" srcId="{46FBD8A1-3161-4A0F-ABF9-10095A3990ED}" destId="{5175DF61-8BD1-0344-802F-BBEF4FB7357A}" srcOrd="0" destOrd="0" presId="urn:microsoft.com/office/officeart/2016/7/layout/RepeatingBendingProcessNew"/>
    <dgm:cxn modelId="{B1048B74-1E12-4225-837D-6B792C7C76BE}" srcId="{11501647-807A-460E-B64A-39929FD3A25E}" destId="{1798DFB3-FA03-447E-B044-1C7CE120F07B}" srcOrd="2" destOrd="0" parTransId="{4323F375-C00A-43EE-83CF-475DB63D1300}" sibTransId="{90A171A8-36EB-4E66-8E9C-5CA158156991}"/>
    <dgm:cxn modelId="{C4591D78-DCCC-8942-B170-60A2FA00A7C7}" type="presOf" srcId="{48EC95E8-E772-4B92-BA49-2A189A9B3DAE}" destId="{413472EF-35E9-F44C-B7D2-F9E871BB0E3D}" srcOrd="0" destOrd="0" presId="urn:microsoft.com/office/officeart/2016/7/layout/RepeatingBendingProcessNew"/>
    <dgm:cxn modelId="{9089D479-3047-0140-BC5B-EF4146FF00E8}" type="presOf" srcId="{2667AC5B-15ED-4D8B-9472-F691144C66B3}" destId="{24948F68-5985-494F-BE7A-A8BF1C9D651C}" srcOrd="0" destOrd="0" presId="urn:microsoft.com/office/officeart/2016/7/layout/RepeatingBendingProcessNew"/>
    <dgm:cxn modelId="{A690DA79-B9B2-A645-BFDC-226F46E5B091}" type="presOf" srcId="{FF814CF5-EC5C-4AA0-BE38-91A77DECBF53}" destId="{230EFD03-E6F5-FF41-9D39-599AE1662FF2}" srcOrd="1" destOrd="0" presId="urn:microsoft.com/office/officeart/2016/7/layout/RepeatingBendingProcessNew"/>
    <dgm:cxn modelId="{5EB53090-206C-A249-9B51-030E63F68C6B}" type="presOf" srcId="{BB881448-4438-47F9-B098-C2558D65A60F}" destId="{1B36D648-FD07-A348-B24B-76D6AF59E028}" srcOrd="0" destOrd="0" presId="urn:microsoft.com/office/officeart/2016/7/layout/RepeatingBendingProcessNew"/>
    <dgm:cxn modelId="{FF6B4290-AF31-4950-9F1B-A5538559DDAB}" srcId="{11501647-807A-460E-B64A-39929FD3A25E}" destId="{48EC95E8-E772-4B92-BA49-2A189A9B3DAE}" srcOrd="0" destOrd="0" parTransId="{E83E8477-350D-4914-A69C-AE03D84FC4B3}" sibTransId="{FF814CF5-EC5C-4AA0-BE38-91A77DECBF53}"/>
    <dgm:cxn modelId="{8FA386AD-1F5D-0642-B8D0-79E28806ADD2}" type="presOf" srcId="{90A171A8-36EB-4E66-8E9C-5CA158156991}" destId="{9759ED55-EC01-E441-9D75-87FF8EF8D896}" srcOrd="1" destOrd="0" presId="urn:microsoft.com/office/officeart/2016/7/layout/RepeatingBendingProcessNew"/>
    <dgm:cxn modelId="{62E110B5-5AE8-9B45-A3FC-7A882FAB436C}" type="presOf" srcId="{FF814CF5-EC5C-4AA0-BE38-91A77DECBF53}" destId="{3DC36FD8-D91C-5F4D-ABC1-4611FF4575BC}" srcOrd="0" destOrd="0" presId="urn:microsoft.com/office/officeart/2016/7/layout/RepeatingBendingProcessNew"/>
    <dgm:cxn modelId="{ED3A27C2-17EE-DC43-8AF4-BEAC71FB2B96}" type="presOf" srcId="{2667AC5B-15ED-4D8B-9472-F691144C66B3}" destId="{3795AD81-168B-8F43-8070-37689EA78F6B}" srcOrd="1" destOrd="0" presId="urn:microsoft.com/office/officeart/2016/7/layout/RepeatingBendingProcessNew"/>
    <dgm:cxn modelId="{753142D7-16A5-4245-B491-6028976A8B18}" type="presOf" srcId="{13EA554D-3380-4093-B6D1-CE5DCB8F7FF1}" destId="{CCD4F4BC-191A-C44A-B952-8680335B238D}" srcOrd="0" destOrd="0" presId="urn:microsoft.com/office/officeart/2016/7/layout/RepeatingBendingProcessNew"/>
    <dgm:cxn modelId="{879B0ED9-E46B-D140-A2B6-BD2854946DCB}" type="presOf" srcId="{3E0DC5E7-6DD5-43B5-8A8F-D100604CBECB}" destId="{0525FE1F-EB37-2044-B8F5-7EB3B77586D4}" srcOrd="0" destOrd="0" presId="urn:microsoft.com/office/officeart/2016/7/layout/RepeatingBendingProcessNew"/>
    <dgm:cxn modelId="{6C5917DC-D310-CC48-9603-03C9E807F8BF}" type="presOf" srcId="{1798DFB3-FA03-447E-B044-1C7CE120F07B}" destId="{539857B7-6490-514E-8ACA-F7C783EE6A46}" srcOrd="0" destOrd="0" presId="urn:microsoft.com/office/officeart/2016/7/layout/RepeatingBendingProcessNew"/>
    <dgm:cxn modelId="{69061CFD-1FA2-48FB-AD0E-C3442919FD6C}" srcId="{11501647-807A-460E-B64A-39929FD3A25E}" destId="{CEDF1937-91F2-42B2-9D57-DB90411C5E5A}" srcOrd="3" destOrd="0" parTransId="{DD0ABF85-232A-4971-BE96-29348E3EB897}" sibTransId="{2667AC5B-15ED-4D8B-9472-F691144C66B3}"/>
    <dgm:cxn modelId="{227D997F-AD24-384C-A5AB-2CB3750AE62A}" type="presParOf" srcId="{53F9AF5D-EFD0-C440-93DE-477196AAB006}" destId="{413472EF-35E9-F44C-B7D2-F9E871BB0E3D}" srcOrd="0" destOrd="0" presId="urn:microsoft.com/office/officeart/2016/7/layout/RepeatingBendingProcessNew"/>
    <dgm:cxn modelId="{81A00E42-F259-1541-ADCD-66224EB484BA}" type="presParOf" srcId="{53F9AF5D-EFD0-C440-93DE-477196AAB006}" destId="{3DC36FD8-D91C-5F4D-ABC1-4611FF4575BC}" srcOrd="1" destOrd="0" presId="urn:microsoft.com/office/officeart/2016/7/layout/RepeatingBendingProcessNew"/>
    <dgm:cxn modelId="{23391B33-5F82-CE40-88CC-D360F5005CEB}" type="presParOf" srcId="{3DC36FD8-D91C-5F4D-ABC1-4611FF4575BC}" destId="{230EFD03-E6F5-FF41-9D39-599AE1662FF2}" srcOrd="0" destOrd="0" presId="urn:microsoft.com/office/officeart/2016/7/layout/RepeatingBendingProcessNew"/>
    <dgm:cxn modelId="{98A1D717-3354-F148-A4D1-D0CB9A948FC9}" type="presParOf" srcId="{53F9AF5D-EFD0-C440-93DE-477196AAB006}" destId="{9C2F38B7-0E7D-924A-98C7-69EE4F6A5A98}" srcOrd="2" destOrd="0" presId="urn:microsoft.com/office/officeart/2016/7/layout/RepeatingBendingProcessNew"/>
    <dgm:cxn modelId="{F6FA3727-C817-6A42-B566-23D62D75F658}" type="presParOf" srcId="{53F9AF5D-EFD0-C440-93DE-477196AAB006}" destId="{CCD4F4BC-191A-C44A-B952-8680335B238D}" srcOrd="3" destOrd="0" presId="urn:microsoft.com/office/officeart/2016/7/layout/RepeatingBendingProcessNew"/>
    <dgm:cxn modelId="{F352B8C8-3E0E-924A-B3CC-960E95F8D706}" type="presParOf" srcId="{CCD4F4BC-191A-C44A-B952-8680335B238D}" destId="{01211474-F021-6C46-B9F3-B45FA3355E68}" srcOrd="0" destOrd="0" presId="urn:microsoft.com/office/officeart/2016/7/layout/RepeatingBendingProcessNew"/>
    <dgm:cxn modelId="{23D4B621-403B-8646-95FC-B23B0BBB398E}" type="presParOf" srcId="{53F9AF5D-EFD0-C440-93DE-477196AAB006}" destId="{539857B7-6490-514E-8ACA-F7C783EE6A46}" srcOrd="4" destOrd="0" presId="urn:microsoft.com/office/officeart/2016/7/layout/RepeatingBendingProcessNew"/>
    <dgm:cxn modelId="{AF8D5636-153E-4641-BF91-ACB1D9C3CDA3}" type="presParOf" srcId="{53F9AF5D-EFD0-C440-93DE-477196AAB006}" destId="{02A8C131-66AB-9242-A6D5-A4E817D4D025}" srcOrd="5" destOrd="0" presId="urn:microsoft.com/office/officeart/2016/7/layout/RepeatingBendingProcessNew"/>
    <dgm:cxn modelId="{64900E9F-2FCE-1D44-B186-2CEF9F897C84}" type="presParOf" srcId="{02A8C131-66AB-9242-A6D5-A4E817D4D025}" destId="{9759ED55-EC01-E441-9D75-87FF8EF8D896}" srcOrd="0" destOrd="0" presId="urn:microsoft.com/office/officeart/2016/7/layout/RepeatingBendingProcessNew"/>
    <dgm:cxn modelId="{3EC77EEC-27A5-4D44-99E3-F5388A1CBE06}" type="presParOf" srcId="{53F9AF5D-EFD0-C440-93DE-477196AAB006}" destId="{603DDF5F-DCD0-2941-A1B7-0B4AD5911F35}" srcOrd="6" destOrd="0" presId="urn:microsoft.com/office/officeart/2016/7/layout/RepeatingBendingProcessNew"/>
    <dgm:cxn modelId="{5798B841-3604-F540-8906-55564464C428}" type="presParOf" srcId="{53F9AF5D-EFD0-C440-93DE-477196AAB006}" destId="{24948F68-5985-494F-BE7A-A8BF1C9D651C}" srcOrd="7" destOrd="0" presId="urn:microsoft.com/office/officeart/2016/7/layout/RepeatingBendingProcessNew"/>
    <dgm:cxn modelId="{918EE97F-D164-A344-8538-084C8D40B408}" type="presParOf" srcId="{24948F68-5985-494F-BE7A-A8BF1C9D651C}" destId="{3795AD81-168B-8F43-8070-37689EA78F6B}" srcOrd="0" destOrd="0" presId="urn:microsoft.com/office/officeart/2016/7/layout/RepeatingBendingProcessNew"/>
    <dgm:cxn modelId="{F6315E0E-F2D8-DE45-B49D-D5032555C8F3}" type="presParOf" srcId="{53F9AF5D-EFD0-C440-93DE-477196AAB006}" destId="{0525FE1F-EB37-2044-B8F5-7EB3B77586D4}" srcOrd="8" destOrd="0" presId="urn:microsoft.com/office/officeart/2016/7/layout/RepeatingBendingProcessNew"/>
    <dgm:cxn modelId="{D7D2B741-53D1-2240-ADDC-46E57842B2B9}" type="presParOf" srcId="{53F9AF5D-EFD0-C440-93DE-477196AAB006}" destId="{1B36D648-FD07-A348-B24B-76D6AF59E028}" srcOrd="9" destOrd="0" presId="urn:microsoft.com/office/officeart/2016/7/layout/RepeatingBendingProcessNew"/>
    <dgm:cxn modelId="{27A2A3BD-4BD5-614D-B589-0202EC2D736F}" type="presParOf" srcId="{1B36D648-FD07-A348-B24B-76D6AF59E028}" destId="{7C80D721-B422-5A4A-BA44-F6164ED48871}" srcOrd="0" destOrd="0" presId="urn:microsoft.com/office/officeart/2016/7/layout/RepeatingBendingProcessNew"/>
    <dgm:cxn modelId="{8D384025-A319-2948-9519-C7DFC2A9A9C3}" type="presParOf" srcId="{53F9AF5D-EFD0-C440-93DE-477196AAB006}" destId="{5175DF61-8BD1-0344-802F-BBEF4FB7357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CB5576-3EDF-44B5-91CA-A0ED8A815B2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A4449A-CEBF-46F5-AACE-A133C44E2229}">
      <dgm:prSet/>
      <dgm:spPr/>
      <dgm:t>
        <a:bodyPr/>
        <a:lstStyle/>
        <a:p>
          <a:r>
            <a:rPr lang="en-GB"/>
            <a:t>Scrum = agiles Rahmenwerk für strukturierte, flexible Zusammenarbeit</a:t>
          </a:r>
          <a:endParaRPr lang="en-US"/>
        </a:p>
      </dgm:t>
    </dgm:pt>
    <dgm:pt modelId="{942FDB01-C60B-4770-A2DE-BE6DE50EBEC5}" type="parTrans" cxnId="{D293C966-361C-435F-BD68-D8327B7A02A8}">
      <dgm:prSet/>
      <dgm:spPr/>
      <dgm:t>
        <a:bodyPr/>
        <a:lstStyle/>
        <a:p>
          <a:endParaRPr lang="en-US"/>
        </a:p>
      </dgm:t>
    </dgm:pt>
    <dgm:pt modelId="{CA3ADB17-8B0E-49EE-B774-DDA462D4A6F1}" type="sibTrans" cxnId="{D293C966-361C-435F-BD68-D8327B7A02A8}">
      <dgm:prSet/>
      <dgm:spPr/>
      <dgm:t>
        <a:bodyPr/>
        <a:lstStyle/>
        <a:p>
          <a:endParaRPr lang="en-US"/>
        </a:p>
      </dgm:t>
    </dgm:pt>
    <dgm:pt modelId="{00052FD0-064A-44BE-8702-A80BC213D2A3}">
      <dgm:prSet/>
      <dgm:spPr/>
      <dgm:t>
        <a:bodyPr/>
        <a:lstStyle/>
        <a:p>
          <a:r>
            <a:rPr lang="en-GB"/>
            <a:t>Klare Rollen, Prozessschritte und Artefakte</a:t>
          </a:r>
          <a:endParaRPr lang="en-US"/>
        </a:p>
      </dgm:t>
    </dgm:pt>
    <dgm:pt modelId="{ADE4571A-7EA6-4ECA-B8CD-4C57ABDDB42E}" type="parTrans" cxnId="{6506BDD4-5966-4F75-A6DF-3E3CD5E33393}">
      <dgm:prSet/>
      <dgm:spPr/>
      <dgm:t>
        <a:bodyPr/>
        <a:lstStyle/>
        <a:p>
          <a:endParaRPr lang="en-US"/>
        </a:p>
      </dgm:t>
    </dgm:pt>
    <dgm:pt modelId="{A2D8138A-C39A-452B-B039-3B5CC92091D7}" type="sibTrans" cxnId="{6506BDD4-5966-4F75-A6DF-3E3CD5E33393}">
      <dgm:prSet/>
      <dgm:spPr/>
      <dgm:t>
        <a:bodyPr/>
        <a:lstStyle/>
        <a:p>
          <a:endParaRPr lang="en-US"/>
        </a:p>
      </dgm:t>
    </dgm:pt>
    <dgm:pt modelId="{CFAA6ED8-F0F7-4937-B911-DC7190EF6327}">
      <dgm:prSet/>
      <dgm:spPr/>
      <dgm:t>
        <a:bodyPr/>
        <a:lstStyle/>
        <a:p>
          <a:r>
            <a:rPr lang="en-GB"/>
            <a:t>Fördert Teamarbeit, Transparenz und kontinuierliche Verbesserung</a:t>
          </a:r>
          <a:endParaRPr lang="en-US"/>
        </a:p>
      </dgm:t>
    </dgm:pt>
    <dgm:pt modelId="{D1B6FF4B-C5C7-4D35-B23F-9F2682E6B3AB}" type="parTrans" cxnId="{3F60917B-0C73-48D8-AFF8-DA918E4639EE}">
      <dgm:prSet/>
      <dgm:spPr/>
      <dgm:t>
        <a:bodyPr/>
        <a:lstStyle/>
        <a:p>
          <a:endParaRPr lang="en-US"/>
        </a:p>
      </dgm:t>
    </dgm:pt>
    <dgm:pt modelId="{71D6F920-AE90-4176-9372-CC09BA9AF8D6}" type="sibTrans" cxnId="{3F60917B-0C73-48D8-AFF8-DA918E4639EE}">
      <dgm:prSet/>
      <dgm:spPr/>
      <dgm:t>
        <a:bodyPr/>
        <a:lstStyle/>
        <a:p>
          <a:endParaRPr lang="en-US"/>
        </a:p>
      </dgm:t>
    </dgm:pt>
    <dgm:pt modelId="{BD1B022D-ACD6-4A50-B8D5-D1FE68B19FDA}">
      <dgm:prSet/>
      <dgm:spPr/>
      <dgm:t>
        <a:bodyPr/>
        <a:lstStyle/>
        <a:p>
          <a:r>
            <a:rPr lang="en-GB"/>
            <a:t>Ziel: Effizient Produkte entwickeln und schnell auf Änderungen reagieren</a:t>
          </a:r>
          <a:endParaRPr lang="en-US"/>
        </a:p>
      </dgm:t>
    </dgm:pt>
    <dgm:pt modelId="{650806D3-40F1-4823-B98F-A0772575FC72}" type="parTrans" cxnId="{B90F4248-238A-47C7-BB0A-87AC041B0E76}">
      <dgm:prSet/>
      <dgm:spPr/>
      <dgm:t>
        <a:bodyPr/>
        <a:lstStyle/>
        <a:p>
          <a:endParaRPr lang="en-US"/>
        </a:p>
      </dgm:t>
    </dgm:pt>
    <dgm:pt modelId="{D429AB6A-546C-41BD-8DD7-C7606289763D}" type="sibTrans" cxnId="{B90F4248-238A-47C7-BB0A-87AC041B0E76}">
      <dgm:prSet/>
      <dgm:spPr/>
      <dgm:t>
        <a:bodyPr/>
        <a:lstStyle/>
        <a:p>
          <a:endParaRPr lang="en-US"/>
        </a:p>
      </dgm:t>
    </dgm:pt>
    <dgm:pt modelId="{5130753B-AEFE-B54F-8869-477FB208110F}" type="pres">
      <dgm:prSet presAssocID="{DACB5576-3EDF-44B5-91CA-A0ED8A815B27}" presName="vert0" presStyleCnt="0">
        <dgm:presLayoutVars>
          <dgm:dir/>
          <dgm:animOne val="branch"/>
          <dgm:animLvl val="lvl"/>
        </dgm:presLayoutVars>
      </dgm:prSet>
      <dgm:spPr/>
    </dgm:pt>
    <dgm:pt modelId="{80E17A18-9F90-A042-AD88-080441D467D6}" type="pres">
      <dgm:prSet presAssocID="{ABA4449A-CEBF-46F5-AACE-A133C44E2229}" presName="thickLine" presStyleLbl="alignNode1" presStyleIdx="0" presStyleCnt="4"/>
      <dgm:spPr/>
    </dgm:pt>
    <dgm:pt modelId="{EE04B02E-BF17-3A4D-9CEF-DD30438A7BD7}" type="pres">
      <dgm:prSet presAssocID="{ABA4449A-CEBF-46F5-AACE-A133C44E2229}" presName="horz1" presStyleCnt="0"/>
      <dgm:spPr/>
    </dgm:pt>
    <dgm:pt modelId="{FD35B2DB-2CB5-0D43-8897-F7FCAF426186}" type="pres">
      <dgm:prSet presAssocID="{ABA4449A-CEBF-46F5-AACE-A133C44E2229}" presName="tx1" presStyleLbl="revTx" presStyleIdx="0" presStyleCnt="4"/>
      <dgm:spPr/>
    </dgm:pt>
    <dgm:pt modelId="{05F8E30C-AD56-714A-B647-83A2FCEDEC98}" type="pres">
      <dgm:prSet presAssocID="{ABA4449A-CEBF-46F5-AACE-A133C44E2229}" presName="vert1" presStyleCnt="0"/>
      <dgm:spPr/>
    </dgm:pt>
    <dgm:pt modelId="{8757AE64-B463-B748-B17C-CF4B414AFEB8}" type="pres">
      <dgm:prSet presAssocID="{00052FD0-064A-44BE-8702-A80BC213D2A3}" presName="thickLine" presStyleLbl="alignNode1" presStyleIdx="1" presStyleCnt="4"/>
      <dgm:spPr/>
    </dgm:pt>
    <dgm:pt modelId="{8A8EB65E-0A65-6F4E-9A61-DA6A4B1B2A6D}" type="pres">
      <dgm:prSet presAssocID="{00052FD0-064A-44BE-8702-A80BC213D2A3}" presName="horz1" presStyleCnt="0"/>
      <dgm:spPr/>
    </dgm:pt>
    <dgm:pt modelId="{509B0381-E479-C043-8682-215EF9BA9805}" type="pres">
      <dgm:prSet presAssocID="{00052FD0-064A-44BE-8702-A80BC213D2A3}" presName="tx1" presStyleLbl="revTx" presStyleIdx="1" presStyleCnt="4"/>
      <dgm:spPr/>
    </dgm:pt>
    <dgm:pt modelId="{9F662D84-DC66-E249-812A-C245679AFFC4}" type="pres">
      <dgm:prSet presAssocID="{00052FD0-064A-44BE-8702-A80BC213D2A3}" presName="vert1" presStyleCnt="0"/>
      <dgm:spPr/>
    </dgm:pt>
    <dgm:pt modelId="{7860C657-FA17-BB46-A1CF-783BBDEDECB0}" type="pres">
      <dgm:prSet presAssocID="{CFAA6ED8-F0F7-4937-B911-DC7190EF6327}" presName="thickLine" presStyleLbl="alignNode1" presStyleIdx="2" presStyleCnt="4"/>
      <dgm:spPr/>
    </dgm:pt>
    <dgm:pt modelId="{3D7D72EE-2C76-C846-87FE-36920A299D20}" type="pres">
      <dgm:prSet presAssocID="{CFAA6ED8-F0F7-4937-B911-DC7190EF6327}" presName="horz1" presStyleCnt="0"/>
      <dgm:spPr/>
    </dgm:pt>
    <dgm:pt modelId="{0ABE4699-75D3-6C49-B0D5-3420D1835909}" type="pres">
      <dgm:prSet presAssocID="{CFAA6ED8-F0F7-4937-B911-DC7190EF6327}" presName="tx1" presStyleLbl="revTx" presStyleIdx="2" presStyleCnt="4"/>
      <dgm:spPr/>
    </dgm:pt>
    <dgm:pt modelId="{DC2D9403-0E0D-1A4E-A000-9154B6AE24D1}" type="pres">
      <dgm:prSet presAssocID="{CFAA6ED8-F0F7-4937-B911-DC7190EF6327}" presName="vert1" presStyleCnt="0"/>
      <dgm:spPr/>
    </dgm:pt>
    <dgm:pt modelId="{3F22E137-3BA2-5141-9720-6B21C05478D2}" type="pres">
      <dgm:prSet presAssocID="{BD1B022D-ACD6-4A50-B8D5-D1FE68B19FDA}" presName="thickLine" presStyleLbl="alignNode1" presStyleIdx="3" presStyleCnt="4"/>
      <dgm:spPr/>
    </dgm:pt>
    <dgm:pt modelId="{D67E89B9-A3FE-3940-9709-11FFF989DC74}" type="pres">
      <dgm:prSet presAssocID="{BD1B022D-ACD6-4A50-B8D5-D1FE68B19FDA}" presName="horz1" presStyleCnt="0"/>
      <dgm:spPr/>
    </dgm:pt>
    <dgm:pt modelId="{62B87A7F-B97A-014C-A1CE-612F1892099A}" type="pres">
      <dgm:prSet presAssocID="{BD1B022D-ACD6-4A50-B8D5-D1FE68B19FDA}" presName="tx1" presStyleLbl="revTx" presStyleIdx="3" presStyleCnt="4"/>
      <dgm:spPr/>
    </dgm:pt>
    <dgm:pt modelId="{73D30B4B-3F56-5747-8AB9-C71211C76478}" type="pres">
      <dgm:prSet presAssocID="{BD1B022D-ACD6-4A50-B8D5-D1FE68B19FDA}" presName="vert1" presStyleCnt="0"/>
      <dgm:spPr/>
    </dgm:pt>
  </dgm:ptLst>
  <dgm:cxnLst>
    <dgm:cxn modelId="{2FC2951F-9F1B-CB4E-A02B-E28ECA825DE6}" type="presOf" srcId="{ABA4449A-CEBF-46F5-AACE-A133C44E2229}" destId="{FD35B2DB-2CB5-0D43-8897-F7FCAF426186}" srcOrd="0" destOrd="0" presId="urn:microsoft.com/office/officeart/2008/layout/LinedList"/>
    <dgm:cxn modelId="{D293C966-361C-435F-BD68-D8327B7A02A8}" srcId="{DACB5576-3EDF-44B5-91CA-A0ED8A815B27}" destId="{ABA4449A-CEBF-46F5-AACE-A133C44E2229}" srcOrd="0" destOrd="0" parTransId="{942FDB01-C60B-4770-A2DE-BE6DE50EBEC5}" sibTransId="{CA3ADB17-8B0E-49EE-B774-DDA462D4A6F1}"/>
    <dgm:cxn modelId="{B90F4248-238A-47C7-BB0A-87AC041B0E76}" srcId="{DACB5576-3EDF-44B5-91CA-A0ED8A815B27}" destId="{BD1B022D-ACD6-4A50-B8D5-D1FE68B19FDA}" srcOrd="3" destOrd="0" parTransId="{650806D3-40F1-4823-B98F-A0772575FC72}" sibTransId="{D429AB6A-546C-41BD-8DD7-C7606289763D}"/>
    <dgm:cxn modelId="{92176849-72AA-C44E-BDD9-D6CF2F48ADE8}" type="presOf" srcId="{BD1B022D-ACD6-4A50-B8D5-D1FE68B19FDA}" destId="{62B87A7F-B97A-014C-A1CE-612F1892099A}" srcOrd="0" destOrd="0" presId="urn:microsoft.com/office/officeart/2008/layout/LinedList"/>
    <dgm:cxn modelId="{3F60917B-0C73-48D8-AFF8-DA918E4639EE}" srcId="{DACB5576-3EDF-44B5-91CA-A0ED8A815B27}" destId="{CFAA6ED8-F0F7-4937-B911-DC7190EF6327}" srcOrd="2" destOrd="0" parTransId="{D1B6FF4B-C5C7-4D35-B23F-9F2682E6B3AB}" sibTransId="{71D6F920-AE90-4176-9372-CC09BA9AF8D6}"/>
    <dgm:cxn modelId="{400E5B8B-7C76-F74A-9DDE-EE874130E028}" type="presOf" srcId="{00052FD0-064A-44BE-8702-A80BC213D2A3}" destId="{509B0381-E479-C043-8682-215EF9BA9805}" srcOrd="0" destOrd="0" presId="urn:microsoft.com/office/officeart/2008/layout/LinedList"/>
    <dgm:cxn modelId="{F6F20DBF-DEE5-E148-98DB-FA56638D2531}" type="presOf" srcId="{CFAA6ED8-F0F7-4937-B911-DC7190EF6327}" destId="{0ABE4699-75D3-6C49-B0D5-3420D1835909}" srcOrd="0" destOrd="0" presId="urn:microsoft.com/office/officeart/2008/layout/LinedList"/>
    <dgm:cxn modelId="{CF9970D3-48E7-EE41-8A5B-523564C78027}" type="presOf" srcId="{DACB5576-3EDF-44B5-91CA-A0ED8A815B27}" destId="{5130753B-AEFE-B54F-8869-477FB208110F}" srcOrd="0" destOrd="0" presId="urn:microsoft.com/office/officeart/2008/layout/LinedList"/>
    <dgm:cxn modelId="{6506BDD4-5966-4F75-A6DF-3E3CD5E33393}" srcId="{DACB5576-3EDF-44B5-91CA-A0ED8A815B27}" destId="{00052FD0-064A-44BE-8702-A80BC213D2A3}" srcOrd="1" destOrd="0" parTransId="{ADE4571A-7EA6-4ECA-B8CD-4C57ABDDB42E}" sibTransId="{A2D8138A-C39A-452B-B039-3B5CC92091D7}"/>
    <dgm:cxn modelId="{43499EA8-3F3A-814E-8266-7ADB94FE4249}" type="presParOf" srcId="{5130753B-AEFE-B54F-8869-477FB208110F}" destId="{80E17A18-9F90-A042-AD88-080441D467D6}" srcOrd="0" destOrd="0" presId="urn:microsoft.com/office/officeart/2008/layout/LinedList"/>
    <dgm:cxn modelId="{A4971D6B-332C-314D-9B3F-4A218A90074A}" type="presParOf" srcId="{5130753B-AEFE-B54F-8869-477FB208110F}" destId="{EE04B02E-BF17-3A4D-9CEF-DD30438A7BD7}" srcOrd="1" destOrd="0" presId="urn:microsoft.com/office/officeart/2008/layout/LinedList"/>
    <dgm:cxn modelId="{377D40E0-4244-C94B-9243-618B3E7F176F}" type="presParOf" srcId="{EE04B02E-BF17-3A4D-9CEF-DD30438A7BD7}" destId="{FD35B2DB-2CB5-0D43-8897-F7FCAF426186}" srcOrd="0" destOrd="0" presId="urn:microsoft.com/office/officeart/2008/layout/LinedList"/>
    <dgm:cxn modelId="{398B21DA-590D-2E46-8007-0C18CCD6D9A7}" type="presParOf" srcId="{EE04B02E-BF17-3A4D-9CEF-DD30438A7BD7}" destId="{05F8E30C-AD56-714A-B647-83A2FCEDEC98}" srcOrd="1" destOrd="0" presId="urn:microsoft.com/office/officeart/2008/layout/LinedList"/>
    <dgm:cxn modelId="{193BFD49-B76E-9843-BF6B-4B1E3CC760EB}" type="presParOf" srcId="{5130753B-AEFE-B54F-8869-477FB208110F}" destId="{8757AE64-B463-B748-B17C-CF4B414AFEB8}" srcOrd="2" destOrd="0" presId="urn:microsoft.com/office/officeart/2008/layout/LinedList"/>
    <dgm:cxn modelId="{87A477DB-0568-D04D-BD4A-5A04E22E5715}" type="presParOf" srcId="{5130753B-AEFE-B54F-8869-477FB208110F}" destId="{8A8EB65E-0A65-6F4E-9A61-DA6A4B1B2A6D}" srcOrd="3" destOrd="0" presId="urn:microsoft.com/office/officeart/2008/layout/LinedList"/>
    <dgm:cxn modelId="{68AC3750-D3D1-B140-9570-E9A08F53DE4F}" type="presParOf" srcId="{8A8EB65E-0A65-6F4E-9A61-DA6A4B1B2A6D}" destId="{509B0381-E479-C043-8682-215EF9BA9805}" srcOrd="0" destOrd="0" presId="urn:microsoft.com/office/officeart/2008/layout/LinedList"/>
    <dgm:cxn modelId="{3C3A9162-87AD-304E-9C2A-C5E60EF6F905}" type="presParOf" srcId="{8A8EB65E-0A65-6F4E-9A61-DA6A4B1B2A6D}" destId="{9F662D84-DC66-E249-812A-C245679AFFC4}" srcOrd="1" destOrd="0" presId="urn:microsoft.com/office/officeart/2008/layout/LinedList"/>
    <dgm:cxn modelId="{8B3CB210-CE71-A443-9523-1EDED52A6E00}" type="presParOf" srcId="{5130753B-AEFE-B54F-8869-477FB208110F}" destId="{7860C657-FA17-BB46-A1CF-783BBDEDECB0}" srcOrd="4" destOrd="0" presId="urn:microsoft.com/office/officeart/2008/layout/LinedList"/>
    <dgm:cxn modelId="{5BF8D081-DA02-9A47-BAA5-31CE9AECE9F2}" type="presParOf" srcId="{5130753B-AEFE-B54F-8869-477FB208110F}" destId="{3D7D72EE-2C76-C846-87FE-36920A299D20}" srcOrd="5" destOrd="0" presId="urn:microsoft.com/office/officeart/2008/layout/LinedList"/>
    <dgm:cxn modelId="{DCD42C47-EDFE-C64B-AA83-79313B68B655}" type="presParOf" srcId="{3D7D72EE-2C76-C846-87FE-36920A299D20}" destId="{0ABE4699-75D3-6C49-B0D5-3420D1835909}" srcOrd="0" destOrd="0" presId="urn:microsoft.com/office/officeart/2008/layout/LinedList"/>
    <dgm:cxn modelId="{FC961927-CAC9-5B4A-BEDA-8B96454E0D22}" type="presParOf" srcId="{3D7D72EE-2C76-C846-87FE-36920A299D20}" destId="{DC2D9403-0E0D-1A4E-A000-9154B6AE24D1}" srcOrd="1" destOrd="0" presId="urn:microsoft.com/office/officeart/2008/layout/LinedList"/>
    <dgm:cxn modelId="{133D632B-74B4-7245-A4E3-B8ED600F17B7}" type="presParOf" srcId="{5130753B-AEFE-B54F-8869-477FB208110F}" destId="{3F22E137-3BA2-5141-9720-6B21C05478D2}" srcOrd="6" destOrd="0" presId="urn:microsoft.com/office/officeart/2008/layout/LinedList"/>
    <dgm:cxn modelId="{DF7A0EC1-95AA-E040-9B15-3CD8CD2D2B72}" type="presParOf" srcId="{5130753B-AEFE-B54F-8869-477FB208110F}" destId="{D67E89B9-A3FE-3940-9709-11FFF989DC74}" srcOrd="7" destOrd="0" presId="urn:microsoft.com/office/officeart/2008/layout/LinedList"/>
    <dgm:cxn modelId="{3AC863EF-B29D-0549-854D-05A848B35204}" type="presParOf" srcId="{D67E89B9-A3FE-3940-9709-11FFF989DC74}" destId="{62B87A7F-B97A-014C-A1CE-612F1892099A}" srcOrd="0" destOrd="0" presId="urn:microsoft.com/office/officeart/2008/layout/LinedList"/>
    <dgm:cxn modelId="{9770B247-0A99-C84B-978B-D86E55CE6B2F}" type="presParOf" srcId="{D67E89B9-A3FE-3940-9709-11FFF989DC74}" destId="{73D30B4B-3F56-5747-8AB9-C71211C7647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57C7E3-81F0-0C44-B423-AC0A81485F72}">
      <dsp:nvSpPr>
        <dsp:cNvPr id="0" name=""/>
        <dsp:cNvSpPr/>
      </dsp:nvSpPr>
      <dsp:spPr>
        <a:xfrm>
          <a:off x="0" y="2205"/>
          <a:ext cx="111397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1B644-908A-684B-ACC1-D19AC4808D70}">
      <dsp:nvSpPr>
        <dsp:cNvPr id="0" name=""/>
        <dsp:cNvSpPr/>
      </dsp:nvSpPr>
      <dsp:spPr>
        <a:xfrm>
          <a:off x="0" y="2205"/>
          <a:ext cx="11139784" cy="1504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Product Owner: </a:t>
          </a:r>
          <a:br>
            <a:rPr lang="en-GB" sz="2000" kern="1200" dirty="0"/>
          </a:br>
          <a:r>
            <a:rPr lang="en-GB" sz="2000" kern="1200" dirty="0" err="1"/>
            <a:t>Vertritt</a:t>
          </a:r>
          <a:r>
            <a:rPr lang="en-GB" sz="2000" kern="1200" dirty="0"/>
            <a:t> die </a:t>
          </a:r>
          <a:r>
            <a:rPr lang="en-GB" sz="2000" kern="1200" dirty="0" err="1"/>
            <a:t>Interessen</a:t>
          </a:r>
          <a:r>
            <a:rPr lang="en-GB" sz="2000" kern="1200" dirty="0"/>
            <a:t> des Kunden</a:t>
          </a:r>
          <a:br>
            <a:rPr lang="en-GB" sz="2000" kern="1200" dirty="0"/>
          </a:br>
          <a:r>
            <a:rPr lang="en-GB" sz="2000" kern="1200" dirty="0" err="1"/>
            <a:t>Verantwortlich</a:t>
          </a:r>
          <a:r>
            <a:rPr lang="en-GB" sz="2000" kern="1200" dirty="0"/>
            <a:t> für den </a:t>
          </a:r>
          <a:r>
            <a:rPr lang="en-GB" sz="2000" kern="1200" dirty="0" err="1"/>
            <a:t>Nutzen</a:t>
          </a:r>
          <a:r>
            <a:rPr lang="en-GB" sz="2000" kern="1200" dirty="0"/>
            <a:t> des </a:t>
          </a:r>
          <a:r>
            <a:rPr lang="en-GB" sz="2000" kern="1200" dirty="0" err="1"/>
            <a:t>Produkts</a:t>
          </a:r>
          <a:br>
            <a:rPr lang="en-GB" sz="2000" kern="1200" dirty="0"/>
          </a:br>
          <a:r>
            <a:rPr lang="en-GB" sz="2000" kern="1200" dirty="0" err="1"/>
            <a:t>Priorisiert</a:t>
          </a:r>
          <a:r>
            <a:rPr lang="en-GB" sz="2000" kern="1200" dirty="0"/>
            <a:t> &amp; </a:t>
          </a:r>
          <a:r>
            <a:rPr lang="en-GB" sz="2000" kern="1200" dirty="0" err="1"/>
            <a:t>verwaltet</a:t>
          </a:r>
          <a:r>
            <a:rPr lang="en-GB" sz="2000" kern="1200" dirty="0"/>
            <a:t> das Backlog</a:t>
          </a:r>
          <a:endParaRPr lang="en-US" sz="2000" kern="1200" dirty="0"/>
        </a:p>
      </dsp:txBody>
      <dsp:txXfrm>
        <a:off x="0" y="2205"/>
        <a:ext cx="11139784" cy="1504112"/>
      </dsp:txXfrm>
    </dsp:sp>
    <dsp:sp modelId="{DE9C0852-EDAD-9846-A9AF-E774BE288D75}">
      <dsp:nvSpPr>
        <dsp:cNvPr id="0" name=""/>
        <dsp:cNvSpPr/>
      </dsp:nvSpPr>
      <dsp:spPr>
        <a:xfrm>
          <a:off x="0" y="1506318"/>
          <a:ext cx="111397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94BCE-81C0-3B4E-820E-35AA666A15D1}">
      <dsp:nvSpPr>
        <dsp:cNvPr id="0" name=""/>
        <dsp:cNvSpPr/>
      </dsp:nvSpPr>
      <dsp:spPr>
        <a:xfrm>
          <a:off x="0" y="1506318"/>
          <a:ext cx="11139784" cy="1504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Scrum Master:</a:t>
          </a:r>
          <a:br>
            <a:rPr lang="en-GB" sz="2000" kern="1200" dirty="0"/>
          </a:br>
          <a:r>
            <a:rPr lang="en-GB" sz="2000" kern="1200" dirty="0" err="1"/>
            <a:t>Unterstützt</a:t>
          </a:r>
          <a:r>
            <a:rPr lang="en-GB" sz="2000" kern="1200" dirty="0"/>
            <a:t> das Team und </a:t>
          </a:r>
          <a:r>
            <a:rPr lang="en-GB" sz="2000" kern="1200" dirty="0" err="1"/>
            <a:t>fördert</a:t>
          </a:r>
          <a:r>
            <a:rPr lang="en-GB" sz="2000" kern="1200" dirty="0"/>
            <a:t> den </a:t>
          </a:r>
          <a:r>
            <a:rPr lang="en-GB" sz="2000" kern="1200" dirty="0" err="1"/>
            <a:t>Prozess</a:t>
          </a:r>
          <a:br>
            <a:rPr lang="en-GB" sz="2000" kern="1200" dirty="0"/>
          </a:br>
          <a:r>
            <a:rPr lang="en-GB" sz="2000" kern="1200" dirty="0" err="1"/>
            <a:t>Organisiert</a:t>
          </a:r>
          <a:r>
            <a:rPr lang="en-GB" sz="2000" kern="1200" dirty="0"/>
            <a:t> &amp; </a:t>
          </a:r>
          <a:r>
            <a:rPr lang="en-GB" sz="2000" kern="1200" dirty="0" err="1"/>
            <a:t>moderiert</a:t>
          </a:r>
          <a:r>
            <a:rPr lang="en-GB" sz="2000" kern="1200" dirty="0"/>
            <a:t> Meetings</a:t>
          </a:r>
          <a:br>
            <a:rPr lang="en-GB" sz="2000" kern="1200" dirty="0"/>
          </a:br>
          <a:r>
            <a:rPr lang="en-GB" sz="2000" kern="1200" dirty="0" err="1"/>
            <a:t>Beseitigt</a:t>
          </a:r>
          <a:r>
            <a:rPr lang="en-GB" sz="2000" kern="1200" dirty="0"/>
            <a:t> </a:t>
          </a:r>
          <a:r>
            <a:rPr lang="en-GB" sz="2000" kern="1200" dirty="0" err="1"/>
            <a:t>Hindernisse</a:t>
          </a:r>
          <a:r>
            <a:rPr lang="en-GB" sz="2000" kern="1200" dirty="0"/>
            <a:t> und </a:t>
          </a:r>
          <a:r>
            <a:rPr lang="en-GB" sz="2000" kern="1200" dirty="0" err="1"/>
            <a:t>schützt</a:t>
          </a:r>
          <a:r>
            <a:rPr lang="en-GB" sz="2000" kern="1200" dirty="0"/>
            <a:t> das Team</a:t>
          </a:r>
          <a:endParaRPr lang="en-US" sz="2000" kern="1200" dirty="0"/>
        </a:p>
      </dsp:txBody>
      <dsp:txXfrm>
        <a:off x="0" y="1506318"/>
        <a:ext cx="11139784" cy="1504112"/>
      </dsp:txXfrm>
    </dsp:sp>
    <dsp:sp modelId="{1A4C6AF3-685A-5D42-A5F3-1D407A4245D8}">
      <dsp:nvSpPr>
        <dsp:cNvPr id="0" name=""/>
        <dsp:cNvSpPr/>
      </dsp:nvSpPr>
      <dsp:spPr>
        <a:xfrm>
          <a:off x="0" y="3010430"/>
          <a:ext cx="111397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0DA6C-3AEE-B643-8C0E-60F7A759FA7A}">
      <dsp:nvSpPr>
        <dsp:cNvPr id="0" name=""/>
        <dsp:cNvSpPr/>
      </dsp:nvSpPr>
      <dsp:spPr>
        <a:xfrm>
          <a:off x="0" y="3010430"/>
          <a:ext cx="11139784" cy="1504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Entwicklungsteam:</a:t>
          </a:r>
          <a:br>
            <a:rPr lang="en-GB" sz="2000" kern="1200"/>
          </a:br>
          <a:r>
            <a:rPr lang="en-GB" sz="2000" kern="1200"/>
            <a:t>3 – 9 Personen, interdisziplinär</a:t>
          </a:r>
          <a:br>
            <a:rPr lang="en-GB" sz="2000" kern="1200"/>
          </a:br>
          <a:r>
            <a:rPr lang="en-GB" sz="2000" kern="1200"/>
            <a:t>Liefert ein fertiges Ergebnis im Sprint</a:t>
          </a:r>
          <a:br>
            <a:rPr lang="en-GB" sz="2000" kern="1200"/>
          </a:br>
          <a:r>
            <a:rPr lang="en-GB" sz="2000" kern="1200"/>
            <a:t>Arbeitet selbstorganisiert nach Kundenanforderungen</a:t>
          </a:r>
          <a:br>
            <a:rPr lang="en-GB" sz="2000" kern="1200"/>
          </a:br>
          <a:endParaRPr lang="en-US" sz="2000" kern="1200"/>
        </a:p>
      </dsp:txBody>
      <dsp:txXfrm>
        <a:off x="0" y="3010430"/>
        <a:ext cx="11139784" cy="15041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F2BFA5-BFA2-4E69-B849-3A4D8504B891}">
      <dsp:nvSpPr>
        <dsp:cNvPr id="0" name=""/>
        <dsp:cNvSpPr/>
      </dsp:nvSpPr>
      <dsp:spPr>
        <a:xfrm>
          <a:off x="0" y="2756"/>
          <a:ext cx="11139784" cy="1249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C2DE0E-BD4C-44E9-955A-A197DF4284C3}">
      <dsp:nvSpPr>
        <dsp:cNvPr id="0" name=""/>
        <dsp:cNvSpPr/>
      </dsp:nvSpPr>
      <dsp:spPr>
        <a:xfrm>
          <a:off x="378084" y="283976"/>
          <a:ext cx="688098" cy="687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66C99-BB49-427A-BCF8-8A96511EFAF5}">
      <dsp:nvSpPr>
        <dsp:cNvPr id="0" name=""/>
        <dsp:cNvSpPr/>
      </dsp:nvSpPr>
      <dsp:spPr>
        <a:xfrm>
          <a:off x="1444267" y="2756"/>
          <a:ext cx="9673274" cy="1288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411" tIns="136411" rIns="136411" bIns="13641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Product Backlog:</a:t>
          </a:r>
          <a:br>
            <a:rPr lang="en-GB" sz="1400" kern="1200" dirty="0"/>
          </a:br>
          <a:r>
            <a:rPr lang="en-GB" sz="1400" kern="1200" dirty="0" err="1"/>
            <a:t>Vom</a:t>
          </a:r>
          <a:r>
            <a:rPr lang="en-GB" sz="1400" kern="1200" dirty="0"/>
            <a:t> Product Owner </a:t>
          </a:r>
          <a:r>
            <a:rPr lang="en-GB" sz="1400" kern="1200" dirty="0" err="1"/>
            <a:t>verantwortet</a:t>
          </a:r>
          <a:br>
            <a:rPr lang="en-GB" sz="1400" kern="1200" dirty="0"/>
          </a:br>
          <a:r>
            <a:rPr lang="en-GB" sz="1400" kern="1200" dirty="0" err="1"/>
            <a:t>Enthält</a:t>
          </a:r>
          <a:r>
            <a:rPr lang="en-GB" sz="1400" kern="1200" dirty="0"/>
            <a:t> alle </a:t>
          </a:r>
          <a:r>
            <a:rPr lang="en-GB" sz="1400" kern="1200" dirty="0" err="1"/>
            <a:t>Aufgaben</a:t>
          </a:r>
          <a:r>
            <a:rPr lang="en-GB" sz="1400" kern="1200" dirty="0"/>
            <a:t> und </a:t>
          </a:r>
          <a:r>
            <a:rPr lang="en-GB" sz="1400" kern="1200" dirty="0" err="1"/>
            <a:t>Anforderungen</a:t>
          </a:r>
          <a:r>
            <a:rPr lang="en-GB" sz="1400" kern="1200" dirty="0"/>
            <a:t>, </a:t>
          </a:r>
          <a:r>
            <a:rPr lang="en-GB" sz="1400" kern="1200" dirty="0" err="1"/>
            <a:t>nach</a:t>
          </a:r>
          <a:r>
            <a:rPr lang="en-GB" sz="1400" kern="1200" dirty="0"/>
            <a:t> </a:t>
          </a:r>
          <a:r>
            <a:rPr lang="en-GB" sz="1400" kern="1200" dirty="0" err="1"/>
            <a:t>Priorität</a:t>
          </a:r>
          <a:r>
            <a:rPr lang="en-GB" sz="1400" kern="1200" dirty="0"/>
            <a:t> </a:t>
          </a:r>
          <a:r>
            <a:rPr lang="en-GB" sz="1400" kern="1200" dirty="0" err="1"/>
            <a:t>geordnet</a:t>
          </a:r>
          <a:br>
            <a:rPr lang="en-GB" sz="1400" kern="1200" dirty="0"/>
          </a:br>
          <a:r>
            <a:rPr lang="en-GB" sz="1400" kern="1200" dirty="0"/>
            <a:t>Nie </a:t>
          </a:r>
          <a:r>
            <a:rPr lang="en-GB" sz="1400" kern="1200" dirty="0" err="1"/>
            <a:t>abgeschlossen</a:t>
          </a:r>
          <a:r>
            <a:rPr lang="en-GB" sz="1400" kern="1200" dirty="0"/>
            <a:t>, </a:t>
          </a:r>
          <a:r>
            <a:rPr lang="en-GB" sz="1400" kern="1200" dirty="0" err="1"/>
            <a:t>wird</a:t>
          </a:r>
          <a:r>
            <a:rPr lang="en-GB" sz="1400" kern="1200" dirty="0"/>
            <a:t> </a:t>
          </a:r>
          <a:r>
            <a:rPr lang="en-GB" sz="1400" kern="1200" dirty="0" err="1"/>
            <a:t>ständig</a:t>
          </a:r>
          <a:r>
            <a:rPr lang="en-GB" sz="1400" kern="1200" dirty="0"/>
            <a:t> </a:t>
          </a:r>
          <a:r>
            <a:rPr lang="en-GB" sz="1400" kern="1200" dirty="0" err="1"/>
            <a:t>aktualisiert</a:t>
          </a:r>
          <a:r>
            <a:rPr lang="en-GB" sz="1400" kern="1200" dirty="0"/>
            <a:t> und </a:t>
          </a:r>
          <a:r>
            <a:rPr lang="en-GB" sz="1400" kern="1200" dirty="0" err="1"/>
            <a:t>erweitert</a:t>
          </a:r>
          <a:endParaRPr lang="en-US" sz="1400" kern="1200" dirty="0"/>
        </a:p>
      </dsp:txBody>
      <dsp:txXfrm>
        <a:off x="1444267" y="2756"/>
        <a:ext cx="9673274" cy="1288924"/>
      </dsp:txXfrm>
    </dsp:sp>
    <dsp:sp modelId="{E7263EAE-FE46-42E9-A87F-15ECD742C2F9}">
      <dsp:nvSpPr>
        <dsp:cNvPr id="0" name=""/>
        <dsp:cNvSpPr/>
      </dsp:nvSpPr>
      <dsp:spPr>
        <a:xfrm>
          <a:off x="0" y="1613912"/>
          <a:ext cx="11139784" cy="1249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477833-5BF5-4B71-9F8F-F8CBCB562CBF}">
      <dsp:nvSpPr>
        <dsp:cNvPr id="0" name=""/>
        <dsp:cNvSpPr/>
      </dsp:nvSpPr>
      <dsp:spPr>
        <a:xfrm>
          <a:off x="378084" y="1895132"/>
          <a:ext cx="688098" cy="687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4FF75-19DA-4EAF-9305-58544A5F9FE5}">
      <dsp:nvSpPr>
        <dsp:cNvPr id="0" name=""/>
        <dsp:cNvSpPr/>
      </dsp:nvSpPr>
      <dsp:spPr>
        <a:xfrm>
          <a:off x="1444267" y="1613912"/>
          <a:ext cx="9673274" cy="1288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411" tIns="136411" rIns="136411" bIns="13641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Sprint Backlog:</a:t>
          </a:r>
          <a:br>
            <a:rPr lang="en-GB" sz="1400" kern="1200" dirty="0"/>
          </a:br>
          <a:r>
            <a:rPr lang="en-GB" sz="1400" kern="1200" dirty="0" err="1"/>
            <a:t>Arbeitsplan</a:t>
          </a:r>
          <a:r>
            <a:rPr lang="en-GB" sz="1400" kern="1200" dirty="0"/>
            <a:t> für den </a:t>
          </a:r>
          <a:r>
            <a:rPr lang="en-GB" sz="1400" kern="1200" dirty="0" err="1"/>
            <a:t>aktuellen</a:t>
          </a:r>
          <a:r>
            <a:rPr lang="en-GB" sz="1400" kern="1200" dirty="0"/>
            <a:t> Sprint</a:t>
          </a:r>
          <a:br>
            <a:rPr lang="en-GB" sz="1400" kern="1200" dirty="0"/>
          </a:br>
          <a:r>
            <a:rPr lang="en-GB" sz="1400" kern="1200" dirty="0" err="1"/>
            <a:t>Enthält</a:t>
          </a:r>
          <a:r>
            <a:rPr lang="en-GB" sz="1400" kern="1200" dirty="0"/>
            <a:t> die Backlog-</a:t>
          </a:r>
          <a:r>
            <a:rPr lang="en-GB" sz="1400" kern="1200" dirty="0" err="1"/>
            <a:t>Einträge</a:t>
          </a:r>
          <a:r>
            <a:rPr lang="en-GB" sz="1400" kern="1200" dirty="0"/>
            <a:t>, die </a:t>
          </a:r>
          <a:r>
            <a:rPr lang="en-GB" sz="1400" kern="1200" dirty="0" err="1"/>
            <a:t>im</a:t>
          </a:r>
          <a:r>
            <a:rPr lang="en-GB" sz="1400" kern="1200" dirty="0"/>
            <a:t> Sprint </a:t>
          </a:r>
          <a:r>
            <a:rPr lang="en-GB" sz="1400" kern="1200" dirty="0" err="1"/>
            <a:t>umgesetzt</a:t>
          </a:r>
          <a:r>
            <a:rPr lang="en-GB" sz="1400" kern="1200" dirty="0"/>
            <a:t> </a:t>
          </a:r>
          <a:r>
            <a:rPr lang="en-GB" sz="1400" kern="1200" dirty="0" err="1"/>
            <a:t>werden</a:t>
          </a:r>
          <a:r>
            <a:rPr lang="en-GB" sz="1400" kern="1200" dirty="0"/>
            <a:t> </a:t>
          </a:r>
          <a:r>
            <a:rPr lang="en-GB" sz="1400" kern="1200" dirty="0" err="1"/>
            <a:t>sollen</a:t>
          </a:r>
          <a:br>
            <a:rPr lang="en-GB" sz="1400" kern="1200" dirty="0"/>
          </a:br>
          <a:r>
            <a:rPr lang="en-GB" sz="1400" kern="1200" dirty="0" err="1"/>
            <a:t>Täglich</a:t>
          </a:r>
          <a:r>
            <a:rPr lang="en-GB" sz="1400" kern="1200" dirty="0"/>
            <a:t> </a:t>
          </a:r>
          <a:r>
            <a:rPr lang="en-GB" sz="1400" kern="1200" dirty="0" err="1"/>
            <a:t>aktualisiert</a:t>
          </a:r>
          <a:br>
            <a:rPr lang="en-GB" sz="1400" kern="1200" dirty="0"/>
          </a:br>
          <a:r>
            <a:rPr lang="en-GB" sz="1400" kern="1200" dirty="0"/>
            <a:t>Oft in 3 </a:t>
          </a:r>
          <a:r>
            <a:rPr lang="en-GB" sz="1400" kern="1200" dirty="0" err="1"/>
            <a:t>Spalten</a:t>
          </a:r>
          <a:r>
            <a:rPr lang="en-GB" sz="1400" kern="1200" dirty="0"/>
            <a:t> </a:t>
          </a:r>
          <a:r>
            <a:rPr lang="en-GB" sz="1400" kern="1200" dirty="0" err="1"/>
            <a:t>geliedert</a:t>
          </a:r>
          <a:r>
            <a:rPr lang="en-GB" sz="1400" kern="1200" dirty="0"/>
            <a:t>: To Do, Doing und Done</a:t>
          </a:r>
          <a:endParaRPr lang="en-US" sz="1400" kern="1200" dirty="0"/>
        </a:p>
      </dsp:txBody>
      <dsp:txXfrm>
        <a:off x="1444267" y="1613912"/>
        <a:ext cx="9673274" cy="1288924"/>
      </dsp:txXfrm>
    </dsp:sp>
    <dsp:sp modelId="{06766485-3ED3-4D45-BF7E-083C855D2A91}">
      <dsp:nvSpPr>
        <dsp:cNvPr id="0" name=""/>
        <dsp:cNvSpPr/>
      </dsp:nvSpPr>
      <dsp:spPr>
        <a:xfrm>
          <a:off x="0" y="3225068"/>
          <a:ext cx="11139784" cy="1249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345711-D37A-444C-A4A6-3ECF887D41A5}">
      <dsp:nvSpPr>
        <dsp:cNvPr id="0" name=""/>
        <dsp:cNvSpPr/>
      </dsp:nvSpPr>
      <dsp:spPr>
        <a:xfrm>
          <a:off x="378084" y="3506287"/>
          <a:ext cx="688098" cy="6874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DB7A3-693E-4B1F-9A4D-78F6533AFF62}">
      <dsp:nvSpPr>
        <dsp:cNvPr id="0" name=""/>
        <dsp:cNvSpPr/>
      </dsp:nvSpPr>
      <dsp:spPr>
        <a:xfrm>
          <a:off x="1444267" y="3225068"/>
          <a:ext cx="9673274" cy="1288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411" tIns="136411" rIns="136411" bIns="13641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Increment:</a:t>
          </a:r>
          <a:br>
            <a:rPr lang="en-GB" sz="1400" kern="1200" dirty="0"/>
          </a:br>
          <a:r>
            <a:rPr lang="en-GB" sz="1400" kern="1200" dirty="0"/>
            <a:t>Summe </a:t>
          </a:r>
          <a:r>
            <a:rPr lang="en-GB" sz="1400" kern="1200" dirty="0" err="1"/>
            <a:t>aller</a:t>
          </a:r>
          <a:r>
            <a:rPr lang="en-GB" sz="1400" kern="1200" dirty="0"/>
            <a:t> </a:t>
          </a:r>
          <a:r>
            <a:rPr lang="en-GB" sz="1400" kern="1200" dirty="0" err="1"/>
            <a:t>Aufgaben</a:t>
          </a:r>
          <a:r>
            <a:rPr lang="en-GB" sz="1400" kern="1200" dirty="0"/>
            <a:t>, die </a:t>
          </a:r>
          <a:r>
            <a:rPr lang="en-GB" sz="1400" kern="1200" dirty="0" err="1"/>
            <a:t>im</a:t>
          </a:r>
          <a:r>
            <a:rPr lang="en-GB" sz="1400" kern="1200" dirty="0"/>
            <a:t> </a:t>
          </a:r>
          <a:r>
            <a:rPr lang="en-GB" sz="1400" kern="1200" dirty="0" err="1"/>
            <a:t>aktuellen</a:t>
          </a:r>
          <a:r>
            <a:rPr lang="en-GB" sz="1400" kern="1200" dirty="0"/>
            <a:t> Sprint </a:t>
          </a:r>
          <a:r>
            <a:rPr lang="en-GB" sz="1400" kern="1200" dirty="0" err="1"/>
            <a:t>umgesetzt</a:t>
          </a:r>
          <a:r>
            <a:rPr lang="en-GB" sz="1400" kern="1200" dirty="0"/>
            <a:t> </a:t>
          </a:r>
          <a:r>
            <a:rPr lang="en-GB" sz="1400" kern="1200" dirty="0" err="1"/>
            <a:t>wurden</a:t>
          </a:r>
          <a:br>
            <a:rPr lang="en-GB" sz="1400" kern="1200" dirty="0"/>
          </a:br>
          <a:r>
            <a:rPr lang="en-GB" sz="1400" kern="1200" dirty="0" err="1"/>
            <a:t>Stellt</a:t>
          </a:r>
          <a:r>
            <a:rPr lang="en-GB" sz="1400" kern="1200" dirty="0"/>
            <a:t> das </a:t>
          </a:r>
          <a:r>
            <a:rPr lang="en-GB" sz="1400" kern="1200" dirty="0" err="1"/>
            <a:t>Sprintziel</a:t>
          </a:r>
          <a:r>
            <a:rPr lang="en-GB" sz="1400" kern="1200" dirty="0"/>
            <a:t> </a:t>
          </a:r>
          <a:r>
            <a:rPr lang="en-GB" sz="1400" kern="1200" dirty="0" err="1"/>
            <a:t>dar</a:t>
          </a:r>
          <a:br>
            <a:rPr lang="en-GB" sz="1400" kern="1200" dirty="0"/>
          </a:br>
          <a:r>
            <a:rPr lang="en-GB" sz="1400" kern="1200" dirty="0" err="1"/>
            <a:t>Transparente</a:t>
          </a:r>
          <a:r>
            <a:rPr lang="en-GB" sz="1400" kern="1200" dirty="0"/>
            <a:t> </a:t>
          </a:r>
          <a:r>
            <a:rPr lang="en-GB" sz="1400" kern="1200" dirty="0" err="1"/>
            <a:t>Grundlage</a:t>
          </a:r>
          <a:r>
            <a:rPr lang="en-GB" sz="1400" kern="1200" dirty="0"/>
            <a:t> für Feedback </a:t>
          </a:r>
          <a:r>
            <a:rPr lang="en-GB" sz="1400" kern="1200" dirty="0" err="1"/>
            <a:t>durch</a:t>
          </a:r>
          <a:r>
            <a:rPr lang="en-GB" sz="1400" kern="1200" dirty="0"/>
            <a:t> Stakeholder</a:t>
          </a:r>
          <a:br>
            <a:rPr lang="en-GB" sz="1400" kern="1200" dirty="0"/>
          </a:br>
          <a:r>
            <a:rPr lang="en-GB" sz="1400" kern="1200" dirty="0"/>
            <a:t>Muss </a:t>
          </a:r>
          <a:r>
            <a:rPr lang="en-GB" sz="1400" kern="1200" dirty="0" err="1"/>
            <a:t>funktionsfähig</a:t>
          </a:r>
          <a:r>
            <a:rPr lang="en-GB" sz="1400" kern="1200" dirty="0"/>
            <a:t> und </a:t>
          </a:r>
          <a:r>
            <a:rPr lang="en-GB" sz="1400" kern="1200" dirty="0" err="1"/>
            <a:t>potenziell</a:t>
          </a:r>
          <a:r>
            <a:rPr lang="en-GB" sz="1400" kern="1200" dirty="0"/>
            <a:t> </a:t>
          </a:r>
          <a:r>
            <a:rPr lang="en-GB" sz="1400" kern="1200" dirty="0" err="1"/>
            <a:t>auslieferbar</a:t>
          </a:r>
          <a:r>
            <a:rPr lang="en-GB" sz="1400" kern="1200" dirty="0"/>
            <a:t> sein</a:t>
          </a:r>
          <a:endParaRPr lang="en-US" sz="1400" kern="1200" dirty="0"/>
        </a:p>
      </dsp:txBody>
      <dsp:txXfrm>
        <a:off x="1444267" y="3225068"/>
        <a:ext cx="9673274" cy="12889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36FD8-D91C-5F4D-ABC1-4611FF4575BC}">
      <dsp:nvSpPr>
        <dsp:cNvPr id="0" name=""/>
        <dsp:cNvSpPr/>
      </dsp:nvSpPr>
      <dsp:spPr>
        <a:xfrm>
          <a:off x="3265072" y="903403"/>
          <a:ext cx="6950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5008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94436" y="945495"/>
        <a:ext cx="36280" cy="7256"/>
      </dsp:txXfrm>
    </dsp:sp>
    <dsp:sp modelId="{413472EF-35E9-F44C-B7D2-F9E871BB0E3D}">
      <dsp:nvSpPr>
        <dsp:cNvPr id="0" name=""/>
        <dsp:cNvSpPr/>
      </dsp:nvSpPr>
      <dsp:spPr>
        <a:xfrm>
          <a:off x="112050" y="2677"/>
          <a:ext cx="3154821" cy="1892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589" tIns="162268" rIns="154589" bIns="16226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 err="1"/>
            <a:t>Iterativer</a:t>
          </a:r>
          <a:r>
            <a:rPr lang="en-GB" sz="2500" kern="1200" dirty="0"/>
            <a:t> </a:t>
          </a:r>
          <a:r>
            <a:rPr lang="en-GB" sz="2500" kern="1200" dirty="0" err="1"/>
            <a:t>Zyklus</a:t>
          </a:r>
          <a:r>
            <a:rPr lang="en-GB" sz="2500" kern="1200" dirty="0"/>
            <a:t> </a:t>
          </a:r>
          <a:r>
            <a:rPr lang="en-GB" sz="2500" kern="1200" dirty="0" err="1"/>
            <a:t>aus</a:t>
          </a:r>
          <a:r>
            <a:rPr lang="en-GB" sz="2500" kern="1200" dirty="0"/>
            <a:t> Sprints (je 2 - 4 </a:t>
          </a:r>
          <a:r>
            <a:rPr lang="en-GB" sz="2500" kern="1200" dirty="0" err="1"/>
            <a:t>Wochen</a:t>
          </a:r>
          <a:r>
            <a:rPr lang="en-GB" sz="2500" kern="1200" dirty="0"/>
            <a:t>)</a:t>
          </a:r>
          <a:endParaRPr lang="en-US" sz="2500" kern="1200" dirty="0"/>
        </a:p>
      </dsp:txBody>
      <dsp:txXfrm>
        <a:off x="112050" y="2677"/>
        <a:ext cx="3154821" cy="1892892"/>
      </dsp:txXfrm>
    </dsp:sp>
    <dsp:sp modelId="{CCD4F4BC-191A-C44A-B952-8680335B238D}">
      <dsp:nvSpPr>
        <dsp:cNvPr id="0" name=""/>
        <dsp:cNvSpPr/>
      </dsp:nvSpPr>
      <dsp:spPr>
        <a:xfrm>
          <a:off x="7145502" y="903403"/>
          <a:ext cx="6950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5008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474867" y="945495"/>
        <a:ext cx="36280" cy="7256"/>
      </dsp:txXfrm>
    </dsp:sp>
    <dsp:sp modelId="{9C2F38B7-0E7D-924A-98C7-69EE4F6A5A98}">
      <dsp:nvSpPr>
        <dsp:cNvPr id="0" name=""/>
        <dsp:cNvSpPr/>
      </dsp:nvSpPr>
      <dsp:spPr>
        <a:xfrm>
          <a:off x="3992481" y="2677"/>
          <a:ext cx="3154821" cy="1892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589" tIns="162268" rIns="154589" bIns="16226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Start </a:t>
          </a:r>
          <a:r>
            <a:rPr lang="en-GB" sz="2500" kern="1200" dirty="0" err="1"/>
            <a:t>mit</a:t>
          </a:r>
          <a:r>
            <a:rPr lang="en-GB" sz="2500" kern="1200" dirty="0"/>
            <a:t> Sprint Planning, Team </a:t>
          </a:r>
          <a:r>
            <a:rPr lang="en-GB" sz="2500" kern="1200" dirty="0" err="1"/>
            <a:t>legt</a:t>
          </a:r>
          <a:r>
            <a:rPr lang="en-GB" sz="2500" kern="1200" dirty="0"/>
            <a:t> </a:t>
          </a:r>
          <a:r>
            <a:rPr lang="en-GB" sz="2500" kern="1200" dirty="0" err="1"/>
            <a:t>Aufgaben</a:t>
          </a:r>
          <a:r>
            <a:rPr lang="en-GB" sz="2500" kern="1200" dirty="0"/>
            <a:t> &amp; Ziel fest</a:t>
          </a:r>
          <a:endParaRPr lang="en-US" sz="2500" kern="1200" dirty="0"/>
        </a:p>
      </dsp:txBody>
      <dsp:txXfrm>
        <a:off x="3992481" y="2677"/>
        <a:ext cx="3154821" cy="1892892"/>
      </dsp:txXfrm>
    </dsp:sp>
    <dsp:sp modelId="{02A8C131-66AB-9242-A6D5-A4E817D4D025}">
      <dsp:nvSpPr>
        <dsp:cNvPr id="0" name=""/>
        <dsp:cNvSpPr/>
      </dsp:nvSpPr>
      <dsp:spPr>
        <a:xfrm>
          <a:off x="1689461" y="1893770"/>
          <a:ext cx="7760861" cy="695008"/>
        </a:xfrm>
        <a:custGeom>
          <a:avLst/>
          <a:gdLst/>
          <a:ahLst/>
          <a:cxnLst/>
          <a:rect l="0" t="0" r="0" b="0"/>
          <a:pathLst>
            <a:path>
              <a:moveTo>
                <a:pt x="7760861" y="0"/>
              </a:moveTo>
              <a:lnTo>
                <a:pt x="7760861" y="364604"/>
              </a:lnTo>
              <a:lnTo>
                <a:pt x="0" y="364604"/>
              </a:lnTo>
              <a:lnTo>
                <a:pt x="0" y="695008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5024" y="2237646"/>
        <a:ext cx="389735" cy="7256"/>
      </dsp:txXfrm>
    </dsp:sp>
    <dsp:sp modelId="{539857B7-6490-514E-8ACA-F7C783EE6A46}">
      <dsp:nvSpPr>
        <dsp:cNvPr id="0" name=""/>
        <dsp:cNvSpPr/>
      </dsp:nvSpPr>
      <dsp:spPr>
        <a:xfrm>
          <a:off x="7872911" y="2677"/>
          <a:ext cx="3154821" cy="1892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589" tIns="162268" rIns="154589" bIns="16226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 err="1"/>
            <a:t>Tägliches</a:t>
          </a:r>
          <a:r>
            <a:rPr lang="en-GB" sz="2500" kern="1200" dirty="0"/>
            <a:t> Daily Scrum (Kurzer </a:t>
          </a:r>
          <a:r>
            <a:rPr lang="en-GB" sz="2500" kern="1200" dirty="0" err="1"/>
            <a:t>Austausch</a:t>
          </a:r>
          <a:r>
            <a:rPr lang="en-GB" sz="2500" kern="1200" dirty="0"/>
            <a:t> </a:t>
          </a:r>
          <a:r>
            <a:rPr lang="en-GB" sz="2500" kern="1200" dirty="0" err="1"/>
            <a:t>zum</a:t>
          </a:r>
          <a:r>
            <a:rPr lang="en-GB" sz="2500" kern="1200" dirty="0"/>
            <a:t> Fortschritt)</a:t>
          </a:r>
          <a:endParaRPr lang="en-US" sz="2500" kern="1200" dirty="0"/>
        </a:p>
      </dsp:txBody>
      <dsp:txXfrm>
        <a:off x="7872911" y="2677"/>
        <a:ext cx="3154821" cy="1892892"/>
      </dsp:txXfrm>
    </dsp:sp>
    <dsp:sp modelId="{24948F68-5985-494F-BE7A-A8BF1C9D651C}">
      <dsp:nvSpPr>
        <dsp:cNvPr id="0" name=""/>
        <dsp:cNvSpPr/>
      </dsp:nvSpPr>
      <dsp:spPr>
        <a:xfrm>
          <a:off x="3265072" y="3521905"/>
          <a:ext cx="6950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5008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94436" y="3563997"/>
        <a:ext cx="36280" cy="7256"/>
      </dsp:txXfrm>
    </dsp:sp>
    <dsp:sp modelId="{603DDF5F-DCD0-2941-A1B7-0B4AD5911F35}">
      <dsp:nvSpPr>
        <dsp:cNvPr id="0" name=""/>
        <dsp:cNvSpPr/>
      </dsp:nvSpPr>
      <dsp:spPr>
        <a:xfrm>
          <a:off x="112050" y="2621178"/>
          <a:ext cx="3154821" cy="1892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589" tIns="162268" rIns="154589" bIns="16226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Sprint Review</a:t>
          </a:r>
          <a:endParaRPr lang="en-US" sz="2500" kern="1200"/>
        </a:p>
      </dsp:txBody>
      <dsp:txXfrm>
        <a:off x="112050" y="2621178"/>
        <a:ext cx="3154821" cy="1892892"/>
      </dsp:txXfrm>
    </dsp:sp>
    <dsp:sp modelId="{1B36D648-FD07-A348-B24B-76D6AF59E028}">
      <dsp:nvSpPr>
        <dsp:cNvPr id="0" name=""/>
        <dsp:cNvSpPr/>
      </dsp:nvSpPr>
      <dsp:spPr>
        <a:xfrm>
          <a:off x="7145502" y="3521905"/>
          <a:ext cx="6950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5008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474867" y="3563997"/>
        <a:ext cx="36280" cy="7256"/>
      </dsp:txXfrm>
    </dsp:sp>
    <dsp:sp modelId="{0525FE1F-EB37-2044-B8F5-7EB3B77586D4}">
      <dsp:nvSpPr>
        <dsp:cNvPr id="0" name=""/>
        <dsp:cNvSpPr/>
      </dsp:nvSpPr>
      <dsp:spPr>
        <a:xfrm>
          <a:off x="3992481" y="2621178"/>
          <a:ext cx="3154821" cy="1892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589" tIns="162268" rIns="154589" bIns="16226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Retrospektive</a:t>
          </a:r>
          <a:endParaRPr lang="en-US" sz="2500" kern="1200"/>
        </a:p>
      </dsp:txBody>
      <dsp:txXfrm>
        <a:off x="3992481" y="2621178"/>
        <a:ext cx="3154821" cy="1892892"/>
      </dsp:txXfrm>
    </dsp:sp>
    <dsp:sp modelId="{5175DF61-8BD1-0344-802F-BBEF4FB7357A}">
      <dsp:nvSpPr>
        <dsp:cNvPr id="0" name=""/>
        <dsp:cNvSpPr/>
      </dsp:nvSpPr>
      <dsp:spPr>
        <a:xfrm>
          <a:off x="7872911" y="2621178"/>
          <a:ext cx="3154821" cy="1892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589" tIns="162268" rIns="154589" bIns="16226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 err="1"/>
            <a:t>Ergebnis</a:t>
          </a:r>
          <a:r>
            <a:rPr lang="en-GB" sz="2500" kern="1200" dirty="0"/>
            <a:t> </a:t>
          </a:r>
          <a:r>
            <a:rPr lang="en-GB" sz="2500" kern="1200" dirty="0" err="1"/>
            <a:t>jedes</a:t>
          </a:r>
          <a:r>
            <a:rPr lang="en-GB" sz="2500" kern="1200" dirty="0"/>
            <a:t> Sprints: </a:t>
          </a:r>
          <a:r>
            <a:rPr lang="en-GB" sz="2500" kern="1200" dirty="0" err="1"/>
            <a:t>funktionsfähiges</a:t>
          </a:r>
          <a:r>
            <a:rPr lang="en-GB" sz="2500" kern="1200" dirty="0"/>
            <a:t> </a:t>
          </a:r>
          <a:r>
            <a:rPr lang="en-GB" sz="2500" kern="1200" dirty="0" err="1"/>
            <a:t>Produkt</a:t>
          </a:r>
          <a:r>
            <a:rPr lang="en-GB" sz="2500" kern="1200" dirty="0"/>
            <a:t> (Increment)</a:t>
          </a:r>
          <a:endParaRPr lang="en-US" sz="2500" kern="1200" dirty="0"/>
        </a:p>
      </dsp:txBody>
      <dsp:txXfrm>
        <a:off x="7872911" y="2621178"/>
        <a:ext cx="3154821" cy="18928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17A18-9F90-A042-AD88-080441D467D6}">
      <dsp:nvSpPr>
        <dsp:cNvPr id="0" name=""/>
        <dsp:cNvSpPr/>
      </dsp:nvSpPr>
      <dsp:spPr>
        <a:xfrm>
          <a:off x="0" y="0"/>
          <a:ext cx="111397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5B2DB-2CB5-0D43-8897-F7FCAF426186}">
      <dsp:nvSpPr>
        <dsp:cNvPr id="0" name=""/>
        <dsp:cNvSpPr/>
      </dsp:nvSpPr>
      <dsp:spPr>
        <a:xfrm>
          <a:off x="0" y="0"/>
          <a:ext cx="11139784" cy="1129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Scrum = agiles Rahmenwerk für strukturierte, flexible Zusammenarbeit</a:t>
          </a:r>
          <a:endParaRPr lang="en-US" sz="3300" kern="1200"/>
        </a:p>
      </dsp:txBody>
      <dsp:txXfrm>
        <a:off x="0" y="0"/>
        <a:ext cx="11139784" cy="1129187"/>
      </dsp:txXfrm>
    </dsp:sp>
    <dsp:sp modelId="{8757AE64-B463-B748-B17C-CF4B414AFEB8}">
      <dsp:nvSpPr>
        <dsp:cNvPr id="0" name=""/>
        <dsp:cNvSpPr/>
      </dsp:nvSpPr>
      <dsp:spPr>
        <a:xfrm>
          <a:off x="0" y="1129187"/>
          <a:ext cx="111397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B0381-E479-C043-8682-215EF9BA9805}">
      <dsp:nvSpPr>
        <dsp:cNvPr id="0" name=""/>
        <dsp:cNvSpPr/>
      </dsp:nvSpPr>
      <dsp:spPr>
        <a:xfrm>
          <a:off x="0" y="1129187"/>
          <a:ext cx="11139784" cy="1129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Klare Rollen, Prozessschritte und Artefakte</a:t>
          </a:r>
          <a:endParaRPr lang="en-US" sz="3300" kern="1200"/>
        </a:p>
      </dsp:txBody>
      <dsp:txXfrm>
        <a:off x="0" y="1129187"/>
        <a:ext cx="11139784" cy="1129187"/>
      </dsp:txXfrm>
    </dsp:sp>
    <dsp:sp modelId="{7860C657-FA17-BB46-A1CF-783BBDEDECB0}">
      <dsp:nvSpPr>
        <dsp:cNvPr id="0" name=""/>
        <dsp:cNvSpPr/>
      </dsp:nvSpPr>
      <dsp:spPr>
        <a:xfrm>
          <a:off x="0" y="2258374"/>
          <a:ext cx="111397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BE4699-75D3-6C49-B0D5-3420D1835909}">
      <dsp:nvSpPr>
        <dsp:cNvPr id="0" name=""/>
        <dsp:cNvSpPr/>
      </dsp:nvSpPr>
      <dsp:spPr>
        <a:xfrm>
          <a:off x="0" y="2258374"/>
          <a:ext cx="11139784" cy="1129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Fördert Teamarbeit, Transparenz und kontinuierliche Verbesserung</a:t>
          </a:r>
          <a:endParaRPr lang="en-US" sz="3300" kern="1200"/>
        </a:p>
      </dsp:txBody>
      <dsp:txXfrm>
        <a:off x="0" y="2258374"/>
        <a:ext cx="11139784" cy="1129187"/>
      </dsp:txXfrm>
    </dsp:sp>
    <dsp:sp modelId="{3F22E137-3BA2-5141-9720-6B21C05478D2}">
      <dsp:nvSpPr>
        <dsp:cNvPr id="0" name=""/>
        <dsp:cNvSpPr/>
      </dsp:nvSpPr>
      <dsp:spPr>
        <a:xfrm>
          <a:off x="0" y="3387561"/>
          <a:ext cx="111397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87A7F-B97A-014C-A1CE-612F1892099A}">
      <dsp:nvSpPr>
        <dsp:cNvPr id="0" name=""/>
        <dsp:cNvSpPr/>
      </dsp:nvSpPr>
      <dsp:spPr>
        <a:xfrm>
          <a:off x="0" y="3387561"/>
          <a:ext cx="11139784" cy="1129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Ziel: Effizient Produkte entwickeln und schnell auf Änderungen reagieren</a:t>
          </a:r>
          <a:endParaRPr lang="en-US" sz="3300" kern="1200"/>
        </a:p>
      </dsp:txBody>
      <dsp:txXfrm>
        <a:off x="0" y="3387561"/>
        <a:ext cx="11139784" cy="1129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06.11.2025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06.11.2025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39" y="1571812"/>
            <a:ext cx="7118139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4" y="555091"/>
            <a:ext cx="1932056" cy="1367992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56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0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T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27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267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51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SOW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3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08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5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6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57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48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M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184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628" y="551477"/>
            <a:ext cx="10584000" cy="1943630"/>
          </a:xfrm>
        </p:spPr>
        <p:txBody>
          <a:bodyPr anchor="b">
            <a:noAutofit/>
          </a:bodyPr>
          <a:lstStyle>
            <a:lvl1pPr algn="l">
              <a:defRPr sz="4500" baseline="0">
                <a:latin typeface="Arial Black" panose="020B0A04020102020204" pitchFamily="34" charset="0"/>
              </a:defRPr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/>
              <a:t>den Titel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393" y="3879265"/>
            <a:ext cx="10569235" cy="84507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AT" noProof="0" dirty="0"/>
              <a:t>Platz für Details und Erklärungen zum Thema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7943901" y="5472268"/>
            <a:ext cx="1846729" cy="7704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074" y="5191200"/>
            <a:ext cx="2820325" cy="12600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339" t="15819" r="44018" b="42469"/>
          <a:stretch/>
        </p:blipFill>
        <p:spPr>
          <a:xfrm>
            <a:off x="601426" y="2412000"/>
            <a:ext cx="2307401" cy="1501200"/>
          </a:xfrm>
          <a:prstGeom prst="rect">
            <a:avLst/>
          </a:prstGeom>
        </p:spPr>
      </p:pic>
      <p:sp>
        <p:nvSpPr>
          <p:cNvPr id="12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908679" y="2623322"/>
            <a:ext cx="8401949" cy="1130300"/>
          </a:xfrm>
        </p:spPr>
        <p:txBody>
          <a:bodyPr anchor="ctr"/>
          <a:lstStyle>
            <a:lvl1pPr marL="0" indent="0">
              <a:buNone/>
              <a:defRPr baseline="0">
                <a:latin typeface="+mj-lt"/>
              </a:defRPr>
            </a:lvl1pPr>
          </a:lstStyle>
          <a:p>
            <a:pPr marL="324000" marR="0" lvl="0" indent="-324000" algn="l" defTabSz="914400" rtl="0" eaLnBrk="1" fontAlgn="auto" latinLnBrk="0" hangingPunct="1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Tx/>
              <a:buSzPct val="90000"/>
              <a:tabLst/>
              <a:defRPr/>
            </a:pPr>
            <a:r>
              <a:rPr lang="de-AT" dirty="0"/>
              <a:t>Platz für einen Untertitel</a:t>
            </a:r>
          </a:p>
        </p:txBody>
      </p:sp>
      <p:pic>
        <p:nvPicPr>
          <p:cNvPr id="5" name="Bild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0719" y="5468398"/>
            <a:ext cx="1409909" cy="77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29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/ Bild / etc. ohne 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/>
              <a:t>Titel und Text, Bilder, etc.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024" y="1777395"/>
            <a:ext cx="10567171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  <p:sp>
        <p:nvSpPr>
          <p:cNvPr id="7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2065867" y="6356350"/>
            <a:ext cx="10176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Platz für Autor und LVA-Nummer</a:t>
            </a:r>
            <a:endParaRPr lang="de-AT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/>
            </a:lvl1pPr>
          </a:lstStyle>
          <a:p>
            <a:fld id="{2FCA2C60-3929-1D49-B29C-C60A97789EE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23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30" name="Grafik 29"/>
          <p:cNvPicPr>
            <a:picLocks noChangeAspect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3" y="6351235"/>
            <a:ext cx="2717806" cy="320399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0" r:id="rId2"/>
    <p:sldLayoutId id="2147483683" r:id="rId3"/>
    <p:sldLayoutId id="2147483669" r:id="rId4"/>
    <p:sldLayoutId id="2147483670" r:id="rId5"/>
    <p:sldLayoutId id="2147483666" r:id="rId6"/>
    <p:sldLayoutId id="2147483677" r:id="rId7"/>
    <p:sldLayoutId id="2147483662" r:id="rId8"/>
    <p:sldLayoutId id="2147483664" r:id="rId9"/>
    <p:sldLayoutId id="2147483671" r:id="rId10"/>
    <p:sldLayoutId id="2147483672" r:id="rId11"/>
    <p:sldLayoutId id="2147483673" r:id="rId12"/>
    <p:sldLayoutId id="2147483675" r:id="rId13"/>
    <p:sldLayoutId id="2147483674" r:id="rId14"/>
    <p:sldLayoutId id="2147483678" r:id="rId15"/>
    <p:sldLayoutId id="2147483679" r:id="rId16"/>
    <p:sldLayoutId id="2147483681" r:id="rId17"/>
    <p:sldLayoutId id="2147483682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</p:sldLayoutIdLst>
  <p:hf hdr="0" ft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850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0EA546D-1039-E883-1B20-18A8BA23FC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Dratlehner</a:t>
            </a:r>
            <a:r>
              <a:rPr lang="en-GB" dirty="0"/>
              <a:t> Michael, Traxler Paul, </a:t>
            </a:r>
            <a:r>
              <a:rPr lang="en-GB" dirty="0" err="1"/>
              <a:t>Tröbinger</a:t>
            </a:r>
            <a:r>
              <a:rPr lang="en-GB" dirty="0"/>
              <a:t> Felician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673E5A-79A0-8B4D-D1E4-38A0BFF3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Meilenstein</a:t>
            </a:r>
            <a:r>
              <a:rPr lang="en-GB" dirty="0"/>
              <a:t> 0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045903F-D61C-5987-453C-E6CBA84270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6E9D7F-1A97-ADB6-303B-5698E16B91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56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EC1DE0F-1326-631B-B01E-234795B0CD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Traxler Paul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A4C479-F68D-C331-AC01-7AE1CA87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SCRUM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A36AD2-15B2-7442-1808-6F99463B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39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4030-282D-F0A0-C1DF-44848882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Was </a:t>
            </a:r>
            <a:r>
              <a:rPr lang="en-GB" dirty="0" err="1"/>
              <a:t>ist</a:t>
            </a:r>
            <a:r>
              <a:rPr lang="en-GB" dirty="0"/>
              <a:t> Scrum?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2367C-039A-9C5A-D504-D23665018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Begruff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Rugby -&gt; “</a:t>
            </a:r>
            <a:r>
              <a:rPr lang="en-GB" dirty="0" err="1"/>
              <a:t>angeordnetes</a:t>
            </a:r>
            <a:r>
              <a:rPr lang="en-GB" dirty="0"/>
              <a:t> </a:t>
            </a:r>
            <a:r>
              <a:rPr lang="en-GB" dirty="0" err="1"/>
              <a:t>Gedränge</a:t>
            </a:r>
            <a:r>
              <a:rPr lang="en-GB" dirty="0"/>
              <a:t>”</a:t>
            </a:r>
          </a:p>
          <a:p>
            <a:r>
              <a:rPr lang="en-GB" dirty="0" err="1"/>
              <a:t>Agiles</a:t>
            </a:r>
            <a:r>
              <a:rPr lang="en-GB" dirty="0"/>
              <a:t> </a:t>
            </a:r>
            <a:r>
              <a:rPr lang="en-GB" dirty="0" err="1"/>
              <a:t>Rahmenwerk</a:t>
            </a:r>
            <a:r>
              <a:rPr lang="en-GB" dirty="0"/>
              <a:t> für </a:t>
            </a:r>
            <a:r>
              <a:rPr lang="en-GB" dirty="0" err="1"/>
              <a:t>Teamarbeit</a:t>
            </a:r>
            <a:r>
              <a:rPr lang="en-GB" dirty="0"/>
              <a:t> </a:t>
            </a:r>
          </a:p>
          <a:p>
            <a:r>
              <a:rPr lang="en-GB" dirty="0" err="1"/>
              <a:t>Definitiert</a:t>
            </a:r>
            <a:r>
              <a:rPr lang="en-GB" dirty="0"/>
              <a:t> Rollen, Meeting und </a:t>
            </a:r>
            <a:r>
              <a:rPr lang="en-GB" dirty="0" err="1"/>
              <a:t>Artefakte</a:t>
            </a:r>
            <a:endParaRPr lang="en-GB" dirty="0"/>
          </a:p>
          <a:p>
            <a:r>
              <a:rPr lang="en-GB" dirty="0"/>
              <a:t>Ziel: </a:t>
            </a:r>
            <a:r>
              <a:rPr lang="en-GB" dirty="0" err="1"/>
              <a:t>Strukturierte</a:t>
            </a:r>
            <a:r>
              <a:rPr lang="en-GB" dirty="0"/>
              <a:t>, </a:t>
            </a:r>
            <a:r>
              <a:rPr lang="en-GB" dirty="0" err="1"/>
              <a:t>aber</a:t>
            </a:r>
            <a:r>
              <a:rPr lang="en-GB" dirty="0"/>
              <a:t> flexible Zusammenarbeit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065DE-E87F-E585-1339-884622A9158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636405-DDEA-1CD9-6267-E836E365DAB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8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632C-B3E3-02EC-ECDD-6A330727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Rollen </a:t>
            </a:r>
            <a:r>
              <a:rPr lang="en-GB" dirty="0" err="1"/>
              <a:t>im</a:t>
            </a:r>
            <a:r>
              <a:rPr lang="en-GB" dirty="0"/>
              <a:t> Scrum-Team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F9C4A236-86B0-E884-36CF-E0FD91E176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1542" y="1621584"/>
          <a:ext cx="11139784" cy="4516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48C33-0BE9-0BE3-0BCF-77C76077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138A20D-E247-5A14-17D2-AB0751761A8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54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CCEF-B3D7-CF1B-DAF7-51C7C5F9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Scrum </a:t>
            </a:r>
            <a:r>
              <a:rPr lang="en-GB" dirty="0" err="1"/>
              <a:t>Artefakte</a:t>
            </a:r>
            <a:endParaRPr lang="en-GB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936D21B-1AB9-0F4F-37F8-8BFF71BD8D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1542" y="1621584"/>
          <a:ext cx="11139784" cy="4516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539B5E3-9112-C8FD-9657-90465C1874B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3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8F5F-B654-2FC3-A113-FEFE5617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Scrum </a:t>
            </a:r>
            <a:r>
              <a:rPr lang="en-GB" dirty="0" err="1"/>
              <a:t>Prozess</a:t>
            </a:r>
            <a:endParaRPr lang="en-GB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F7A786C-562F-CB11-8DDF-F139DB516B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1542" y="1621584"/>
          <a:ext cx="11139784" cy="4516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0B77DCE-35BD-E859-0AD5-0B3B0DD6E8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601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A773-75C7-859F-0F3E-D5266B82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 </a:t>
            </a:r>
            <a:r>
              <a:rPr lang="en-GB" dirty="0" err="1"/>
              <a:t>wichtigste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Scrum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748ECE3-03E9-063B-56E2-FFB964F313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1542" y="1621584"/>
          <a:ext cx="11139784" cy="4516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3A2BD2F-6BE5-72A2-B1D3-751FE3960F7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22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EC1DE0F-1326-631B-B01E-234795B0CD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Dratlehner Michael 12205407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A4C479-F68D-C331-AC01-7AE1CA87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Sourcecodeverwaltung</a:t>
            </a:r>
            <a:r>
              <a:rPr lang="en-GB" dirty="0"/>
              <a:t> per </a:t>
            </a:r>
            <a:r>
              <a:rPr lang="en-GB" dirty="0" err="1"/>
              <a:t>Github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0D8A97-15B8-6D3E-F31D-4725D00B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166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EE0F3-2970-D53E-C618-3A8C36994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Grundlagen von </a:t>
            </a:r>
            <a:r>
              <a:rPr lang="de-DE" dirty="0" err="1"/>
              <a:t>Git</a:t>
            </a:r>
            <a:r>
              <a:rPr lang="de-DE" dirty="0"/>
              <a:t> und GitHub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06A779-EE43-B3FB-536C-A92CBE6AFF5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CF18308-EC54-6A8E-1729-216311313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Versionsverwaltungssystem für Quellcode</a:t>
            </a:r>
          </a:p>
          <a:p>
            <a:r>
              <a:rPr lang="de-DE" dirty="0" err="1"/>
              <a:t>Git</a:t>
            </a:r>
            <a:r>
              <a:rPr lang="de-DE" dirty="0"/>
              <a:t> = lokal, GitHub = cloudbasierte Plattform</a:t>
            </a:r>
          </a:p>
          <a:p>
            <a:r>
              <a:rPr lang="de-DE" dirty="0"/>
              <a:t>Vorteile:</a:t>
            </a:r>
          </a:p>
          <a:p>
            <a:pPr lvl="1"/>
            <a:r>
              <a:rPr lang="de-DE" dirty="0"/>
              <a:t>Nachvollziehbarkeit von Änderungen</a:t>
            </a:r>
          </a:p>
          <a:p>
            <a:pPr lvl="1"/>
            <a:r>
              <a:rPr lang="de-DE" dirty="0"/>
              <a:t>Paralleles Arbeiten mehrerer Entwickler</a:t>
            </a:r>
          </a:p>
          <a:p>
            <a:pPr lvl="1"/>
            <a:r>
              <a:rPr lang="de-DE" dirty="0"/>
              <a:t>Rückverfolgbarkeit bei Fehlern</a:t>
            </a:r>
          </a:p>
          <a:p>
            <a:pPr lvl="1"/>
            <a:r>
              <a:rPr lang="de-DE" dirty="0"/>
              <a:t>Wiederherstellbarkeit früherer Versionen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31D5005-6946-9280-DBEB-6E2BD64FC9C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9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90E2-4FE1-469E-9112-746991C1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1218D8-54C4-5C50-BA2E-7BAA39D7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Checkout</a:t>
            </a:r>
            <a:r>
              <a:rPr lang="de-DE" dirty="0"/>
              <a:t> / Clone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FE23FD-0ABE-D300-1A09-CA6459921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de-DE" b="1" dirty="0" err="1"/>
              <a:t>Checkout</a:t>
            </a:r>
            <a:r>
              <a:rPr lang="de-DE" b="1" dirty="0"/>
              <a:t>: </a:t>
            </a:r>
          </a:p>
          <a:p>
            <a:pPr lvl="1"/>
            <a:r>
              <a:rPr lang="de-DE" dirty="0"/>
              <a:t> Wechselt zwischen verschiedenen </a:t>
            </a:r>
            <a:r>
              <a:rPr lang="de-DE" b="1" dirty="0"/>
              <a:t>Versionen</a:t>
            </a:r>
            <a:r>
              <a:rPr lang="de-DE" dirty="0"/>
              <a:t>, </a:t>
            </a:r>
            <a:r>
              <a:rPr lang="de-DE" b="1" dirty="0" err="1"/>
              <a:t>Branches</a:t>
            </a:r>
            <a:r>
              <a:rPr lang="de-DE" dirty="0"/>
              <a:t> oder </a:t>
            </a:r>
            <a:r>
              <a:rPr lang="de-DE" b="1" dirty="0" err="1"/>
              <a:t>Commits</a:t>
            </a:r>
            <a:r>
              <a:rPr lang="de-DE" dirty="0"/>
              <a:t> in einem </a:t>
            </a:r>
            <a:r>
              <a:rPr lang="de-DE" dirty="0" err="1"/>
              <a:t>Git</a:t>
            </a:r>
            <a:r>
              <a:rPr lang="de-DE" dirty="0"/>
              <a:t>-Repo.</a:t>
            </a:r>
          </a:p>
          <a:p>
            <a:pPr lvl="1"/>
            <a:r>
              <a:rPr lang="de-DE" dirty="0"/>
              <a:t> Beispiel: Arbeit an älteren Versionen oder parallelen Entwicklungszweigen.</a:t>
            </a:r>
            <a:endParaRPr lang="de-DE" b="1" dirty="0"/>
          </a:p>
          <a:p>
            <a:r>
              <a:rPr lang="de-DE" b="1" dirty="0"/>
              <a:t>Clone:</a:t>
            </a:r>
            <a:br>
              <a:rPr lang="de-DE" dirty="0"/>
            </a:br>
            <a:r>
              <a:rPr lang="de-DE" dirty="0"/>
              <a:t>Erstellt eine </a:t>
            </a:r>
            <a:r>
              <a:rPr lang="de-DE" b="1" dirty="0"/>
              <a:t>lokale Kopie</a:t>
            </a:r>
            <a:r>
              <a:rPr lang="de-DE" dirty="0"/>
              <a:t> eines </a:t>
            </a:r>
            <a:r>
              <a:rPr lang="de-DE" dirty="0" err="1"/>
              <a:t>Git</a:t>
            </a:r>
            <a:r>
              <a:rPr lang="de-DE" dirty="0"/>
              <a:t>- oder GitHub-</a:t>
            </a:r>
            <a:r>
              <a:rPr lang="de-DE" dirty="0" err="1"/>
              <a:t>Repositories</a:t>
            </a:r>
            <a:r>
              <a:rPr lang="de-DE" dirty="0"/>
              <a:t>, um damit auf dem eigenen Rechner zu arbeiten.</a:t>
            </a:r>
            <a:br>
              <a:rPr lang="de-DE" dirty="0"/>
            </a:br>
            <a:r>
              <a:rPr lang="de-DE" dirty="0"/>
              <a:t>Ist die Grundlage für jede lokale Entwicklung.</a:t>
            </a:r>
          </a:p>
          <a:p>
            <a:r>
              <a:rPr lang="de-DE" dirty="0"/>
              <a:t>Durchführung möglich über:</a:t>
            </a:r>
          </a:p>
          <a:p>
            <a:pPr lvl="1"/>
            <a:r>
              <a:rPr lang="de-DE" dirty="0"/>
              <a:t>IDE (z. B. </a:t>
            </a:r>
            <a:r>
              <a:rPr lang="de-DE" dirty="0" err="1"/>
              <a:t>IntelliJ</a:t>
            </a:r>
            <a:r>
              <a:rPr lang="de-DE" dirty="0"/>
              <a:t>, </a:t>
            </a:r>
            <a:r>
              <a:rPr lang="de-DE" dirty="0" err="1"/>
              <a:t>Eclipse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Kommandozeile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4BE4E7-02FD-1EE8-3FA1-3E45BD3F26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8B0C7C-0B07-583D-A927-C1A7D47C667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274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4DDF4-AD5A-44E5-0785-3CAED1A56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3A9EA6-D4A3-4A85-5BF3-A23F7C1A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Commit und Push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5BAD59-7632-6B8C-DC4A-A2AD2BBA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b="1" dirty="0"/>
              <a:t>Commit: </a:t>
            </a:r>
          </a:p>
          <a:p>
            <a:pPr lvl="1"/>
            <a:r>
              <a:rPr lang="de-DE" dirty="0"/>
              <a:t>Speichert lokale Änderungen mit Beschreibung</a:t>
            </a:r>
          </a:p>
          <a:p>
            <a:pPr lvl="2"/>
            <a:r>
              <a:rPr lang="de-DE" dirty="0"/>
              <a:t>Beispiel: 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commit</a:t>
            </a:r>
            <a:r>
              <a:rPr lang="de-DE" dirty="0"/>
              <a:t> -m "Fix Login-Button (#12)„</a:t>
            </a:r>
          </a:p>
          <a:p>
            <a:pPr lvl="1"/>
            <a:r>
              <a:rPr lang="de-DE" dirty="0"/>
              <a:t>Änderungen werden </a:t>
            </a:r>
            <a:r>
              <a:rPr lang="de-DE" b="1" dirty="0"/>
              <a:t>nur lokal</a:t>
            </a:r>
            <a:r>
              <a:rPr lang="de-DE" dirty="0"/>
              <a:t> gespeichert, bis sie gepusht werden.</a:t>
            </a:r>
          </a:p>
          <a:p>
            <a:r>
              <a:rPr lang="de-DE" b="1" dirty="0"/>
              <a:t>Push:</a:t>
            </a:r>
          </a:p>
          <a:p>
            <a:pPr lvl="1"/>
            <a:r>
              <a:rPr lang="de-DE" b="1" dirty="0"/>
              <a:t> </a:t>
            </a:r>
            <a:r>
              <a:rPr lang="de-DE" dirty="0"/>
              <a:t>Überträgt lokale </a:t>
            </a:r>
            <a:r>
              <a:rPr lang="de-DE" dirty="0" err="1"/>
              <a:t>Commits</a:t>
            </a:r>
            <a:r>
              <a:rPr lang="de-DE" dirty="0"/>
              <a:t> ins zentrale Repository</a:t>
            </a:r>
          </a:p>
          <a:p>
            <a:pPr lvl="2"/>
            <a:r>
              <a:rPr lang="de-DE" dirty="0"/>
              <a:t>Beispiel: </a:t>
            </a:r>
            <a:r>
              <a:rPr lang="de-DE" dirty="0" err="1"/>
              <a:t>git</a:t>
            </a:r>
            <a:r>
              <a:rPr lang="de-DE" dirty="0"/>
              <a:t> push </a:t>
            </a:r>
            <a:r>
              <a:rPr lang="de-DE" dirty="0" err="1"/>
              <a:t>origin</a:t>
            </a:r>
            <a:r>
              <a:rPr lang="de-DE" dirty="0"/>
              <a:t> </a:t>
            </a:r>
            <a:r>
              <a:rPr lang="de-DE" dirty="0" err="1"/>
              <a:t>main</a:t>
            </a:r>
            <a:endParaRPr lang="de-DE" dirty="0"/>
          </a:p>
          <a:p>
            <a:pPr lvl="1"/>
            <a:r>
              <a:rPr lang="de-DE" dirty="0"/>
              <a:t>Dadurch werden Änderungen für andere Entwickler sichtbar.</a:t>
            </a:r>
          </a:p>
          <a:p>
            <a:r>
              <a:rPr lang="de-DE" dirty="0"/>
              <a:t>Durchführung möglich über:</a:t>
            </a:r>
          </a:p>
          <a:p>
            <a:pPr lvl="1"/>
            <a:r>
              <a:rPr lang="de-DE" dirty="0"/>
              <a:t>IDE (z. B. </a:t>
            </a:r>
            <a:r>
              <a:rPr lang="de-DE" dirty="0" err="1"/>
              <a:t>IntelliJ</a:t>
            </a:r>
            <a:r>
              <a:rPr lang="de-DE" dirty="0"/>
              <a:t>, </a:t>
            </a:r>
            <a:r>
              <a:rPr lang="de-DE" dirty="0" err="1"/>
              <a:t>Eclipse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Kommandozeile</a:t>
            </a:r>
          </a:p>
          <a:p>
            <a:pPr lvl="1"/>
            <a:endParaRPr lang="de-DE" dirty="0"/>
          </a:p>
          <a:p>
            <a:pPr marL="216000" lvl="1" indent="0">
              <a:buNone/>
            </a:pPr>
            <a:r>
              <a:rPr lang="de-DE" dirty="0"/>
              <a:t>Wichtig: </a:t>
            </a:r>
            <a:r>
              <a:rPr lang="de-DE" b="1" dirty="0"/>
              <a:t>Klein und logisch zusammenhängend -&gt;</a:t>
            </a:r>
            <a:r>
              <a:rPr lang="de-DE" dirty="0"/>
              <a:t>Nur Änderungen eines Themas pro Commit</a:t>
            </a:r>
          </a:p>
          <a:p>
            <a:pPr lvl="1"/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F3C6A4-2F29-4217-6673-18F0A3C295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A5A0BF-486C-026E-A31A-525354C794D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06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D33F-B838-1CF3-BB24-7C0162E6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2AABF1-810C-1BCA-B4C9-FEFB4F0F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Referenzen auf </a:t>
            </a:r>
            <a:r>
              <a:rPr lang="de-DE" dirty="0" err="1"/>
              <a:t>Requirements</a:t>
            </a:r>
            <a:r>
              <a:rPr lang="de-DE" dirty="0"/>
              <a:t>, User Stories und 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11D38F-9F8E-13F6-D560-E9FC0213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Jeder Commit sollte nachvollziehbar auf Anforderungen bzw. Aufgaben verweisen</a:t>
            </a:r>
          </a:p>
          <a:p>
            <a:pPr lvl="1"/>
            <a:r>
              <a:rPr lang="de-DE" dirty="0"/>
              <a:t>Erleichtert die Nachvollziehbarkeit zwischen </a:t>
            </a:r>
            <a:r>
              <a:rPr lang="de-DE" b="1" dirty="0"/>
              <a:t>Code</a:t>
            </a:r>
            <a:r>
              <a:rPr lang="de-DE" dirty="0"/>
              <a:t> und </a:t>
            </a:r>
            <a:r>
              <a:rPr lang="de-DE" b="1" dirty="0"/>
              <a:t>Projektanforderungen</a:t>
            </a:r>
            <a:r>
              <a:rPr lang="de-DE" dirty="0"/>
              <a:t>.</a:t>
            </a:r>
          </a:p>
          <a:p>
            <a:r>
              <a:rPr lang="de-DE" dirty="0"/>
              <a:t>Syntax-Beispiele:</a:t>
            </a:r>
          </a:p>
          <a:p>
            <a:pPr lvl="1"/>
            <a:r>
              <a:rPr lang="de-DE" dirty="0"/>
              <a:t>#12 → verweist auf </a:t>
            </a:r>
            <a:r>
              <a:rPr lang="de-DE" dirty="0" err="1"/>
              <a:t>Issue</a:t>
            </a:r>
            <a:r>
              <a:rPr lang="de-DE" dirty="0"/>
              <a:t> 12</a:t>
            </a:r>
          </a:p>
          <a:p>
            <a:pPr lvl="1"/>
            <a:r>
              <a:rPr lang="de-DE" dirty="0"/>
              <a:t>US-5 → verweist auf User Story 5</a:t>
            </a:r>
          </a:p>
          <a:p>
            <a:r>
              <a:rPr lang="de-DE" dirty="0"/>
              <a:t>Nutzen:</a:t>
            </a:r>
          </a:p>
          <a:p>
            <a:pPr lvl="1"/>
            <a:r>
              <a:rPr lang="de-DE" dirty="0"/>
              <a:t>Rückverfolgbarkeit von Code zu Anforderungen</a:t>
            </a:r>
          </a:p>
          <a:p>
            <a:pPr lvl="1"/>
            <a:r>
              <a:rPr lang="de-DE" dirty="0"/>
              <a:t>Unterstützung im Projektmanagement (z. B. Jira, GitHub </a:t>
            </a:r>
            <a:r>
              <a:rPr lang="de-DE" dirty="0" err="1"/>
              <a:t>Issues</a:t>
            </a:r>
            <a:r>
              <a:rPr lang="de-DE" dirty="0"/>
              <a:t>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36C086-798B-1459-0F7E-6D6E7093E96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144ED-C736-12C3-2D73-5CFA307D8B6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56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1E78A-7ECB-869C-D5FB-32571ED6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189A85-9F3D-D7A0-275B-B554A4BE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Branching</a:t>
            </a:r>
            <a:r>
              <a:rPr lang="de-DE" dirty="0"/>
              <a:t> (Feature-</a:t>
            </a:r>
            <a:r>
              <a:rPr lang="de-DE" dirty="0" err="1"/>
              <a:t>Branches</a:t>
            </a:r>
            <a:r>
              <a:rPr lang="de-DE" dirty="0"/>
              <a:t>, Bugfixes)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6BD202-B768-D8C5-A428-2E02E73A8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Branch = unabhängiger Entwicklungszweig (zweigt von </a:t>
            </a:r>
            <a:r>
              <a:rPr lang="de-DE" dirty="0" err="1"/>
              <a:t>main</a:t>
            </a:r>
            <a:r>
              <a:rPr lang="de-DE" dirty="0"/>
              <a:t> oder </a:t>
            </a:r>
            <a:r>
              <a:rPr lang="de-DE" dirty="0" err="1"/>
              <a:t>master</a:t>
            </a:r>
            <a:r>
              <a:rPr lang="de-DE" dirty="0"/>
              <a:t> ab)</a:t>
            </a:r>
          </a:p>
          <a:p>
            <a:pPr lvl="1"/>
            <a:r>
              <a:rPr lang="de-DE" dirty="0"/>
              <a:t>Ermöglicht das Arbeiten an neuen Funktionen oder Fehlerbehebungen, ohne den stabilen Code zu beeinflussen.</a:t>
            </a:r>
          </a:p>
          <a:p>
            <a:r>
              <a:rPr lang="de-DE" dirty="0"/>
              <a:t>Namenskonventionen:</a:t>
            </a:r>
          </a:p>
          <a:p>
            <a:pPr lvl="1"/>
            <a:r>
              <a:rPr lang="de-DE" dirty="0"/>
              <a:t>feature/</a:t>
            </a:r>
            <a:r>
              <a:rPr lang="de-DE" dirty="0" err="1"/>
              <a:t>login</a:t>
            </a:r>
            <a:r>
              <a:rPr lang="de-DE" dirty="0"/>
              <a:t>-page = neue Funktion </a:t>
            </a:r>
          </a:p>
          <a:p>
            <a:pPr lvl="1"/>
            <a:r>
              <a:rPr lang="de-DE" dirty="0" err="1"/>
              <a:t>bugfix</a:t>
            </a:r>
            <a:r>
              <a:rPr lang="de-DE" dirty="0"/>
              <a:t>/crash-on-start = Behebung eines Fehlers</a:t>
            </a:r>
          </a:p>
          <a:p>
            <a:r>
              <a:rPr lang="de-DE" dirty="0"/>
              <a:t>Vorteile:</a:t>
            </a:r>
          </a:p>
          <a:p>
            <a:pPr lvl="1"/>
            <a:r>
              <a:rPr lang="de-DE" dirty="0"/>
              <a:t>Parallele Entwicklung ohne Beeinflussung des Hauptcodes</a:t>
            </a:r>
          </a:p>
          <a:p>
            <a:pPr lvl="1"/>
            <a:r>
              <a:rPr lang="de-DE" dirty="0"/>
              <a:t>Getrennte Bearbeitung von Features und Bugs</a:t>
            </a:r>
          </a:p>
          <a:p>
            <a:pPr lvl="1"/>
            <a:r>
              <a:rPr lang="de-DE" dirty="0"/>
              <a:t>Erhöhte Codequalität durch kontrollierte Integration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CA5F70-8CDF-264D-2778-B2633F27A1D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6B1A36-5355-2866-0B9A-7E951566881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973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62DF4-EED2-9F6A-CA66-33C18EBC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9ECE14-B4B5-34CE-88BF-47D622D2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Merge</a:t>
            </a:r>
            <a:r>
              <a:rPr lang="de-DE" dirty="0"/>
              <a:t> und Konfliktlösung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5BB825-53B2-AD7F-C105-52F5C6972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Merge</a:t>
            </a:r>
            <a:r>
              <a:rPr lang="de-DE" dirty="0"/>
              <a:t>: Zusammenführen eines </a:t>
            </a:r>
            <a:r>
              <a:rPr lang="de-DE" dirty="0" err="1"/>
              <a:t>Branches</a:t>
            </a:r>
            <a:r>
              <a:rPr lang="de-DE" dirty="0"/>
              <a:t> in den Hauptzweig (</a:t>
            </a:r>
            <a:r>
              <a:rPr lang="de-DE" dirty="0" err="1"/>
              <a:t>main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Kombiniert Änderungen verschiedener Entwickler zu einer einheitlichen Codebasis.</a:t>
            </a:r>
          </a:p>
          <a:p>
            <a:pPr lvl="1"/>
            <a:endParaRPr lang="de-DE" dirty="0"/>
          </a:p>
          <a:p>
            <a:r>
              <a:rPr lang="de-DE" dirty="0"/>
              <a:t>Konflikte entstehen, wenn:</a:t>
            </a:r>
          </a:p>
          <a:p>
            <a:pPr lvl="1"/>
            <a:r>
              <a:rPr lang="de-DE" dirty="0"/>
              <a:t>Zwei Personen dieselbe Datei/Zeile bearbeiten</a:t>
            </a:r>
          </a:p>
          <a:p>
            <a:pPr lvl="1"/>
            <a:endParaRPr lang="de-DE" dirty="0"/>
          </a:p>
          <a:p>
            <a:r>
              <a:rPr lang="de-DE" dirty="0"/>
              <a:t>Konfliktlösung:</a:t>
            </a:r>
          </a:p>
          <a:p>
            <a:pPr lvl="1"/>
            <a:r>
              <a:rPr lang="de-DE" dirty="0"/>
              <a:t>Manuell in IDE oder </a:t>
            </a:r>
            <a:r>
              <a:rPr lang="de-DE" dirty="0" err="1"/>
              <a:t>Git</a:t>
            </a:r>
            <a:r>
              <a:rPr lang="de-DE" dirty="0"/>
              <a:t>-Tool(z.B. </a:t>
            </a:r>
            <a:r>
              <a:rPr lang="de-DE" dirty="0" err="1"/>
              <a:t>SourceTree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Entwickler entscheidet, welche Änderung übernommen wird.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3C940C-1C65-6AF3-3210-F175E93DC7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31FA36-987D-9188-8415-D409C6D5469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845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46C4E-8F3D-8C6E-5927-1792C2122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62FAE0-0777-5446-BE00-44BD138E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Pull </a:t>
            </a:r>
            <a:r>
              <a:rPr lang="de-DE" dirty="0" err="1"/>
              <a:t>Requests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CA615D-365C-9880-6CC9-BFA08F85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Anfrage zum Zusammenführen eines </a:t>
            </a:r>
            <a:r>
              <a:rPr lang="de-DE" dirty="0" err="1"/>
              <a:t>Branches</a:t>
            </a:r>
            <a:r>
              <a:rPr lang="de-DE" dirty="0"/>
              <a:t> (</a:t>
            </a:r>
            <a:r>
              <a:rPr lang="de-DE" dirty="0" err="1"/>
              <a:t>Merge</a:t>
            </a:r>
            <a:r>
              <a:rPr lang="de-DE" dirty="0"/>
              <a:t> Request)</a:t>
            </a:r>
          </a:p>
          <a:p>
            <a:pPr lvl="1"/>
            <a:r>
              <a:rPr lang="de-DE" dirty="0"/>
              <a:t>Dient zur Überprüfung und Diskussion von Codeänderungen vor dem </a:t>
            </a:r>
            <a:r>
              <a:rPr lang="de-DE" dirty="0" err="1"/>
              <a:t>Merge</a:t>
            </a:r>
            <a:r>
              <a:rPr lang="de-DE" dirty="0"/>
              <a:t>.</a:t>
            </a:r>
          </a:p>
          <a:p>
            <a:r>
              <a:rPr lang="de-DE" dirty="0"/>
              <a:t>Schritte:</a:t>
            </a:r>
          </a:p>
          <a:p>
            <a:pPr marL="673200" lvl="1" indent="-457200">
              <a:lnSpc>
                <a:spcPct val="110000"/>
              </a:lnSpc>
              <a:buFont typeface="+mj-lt"/>
              <a:buAutoNum type="arabicPeriod"/>
            </a:pPr>
            <a:r>
              <a:rPr lang="de-DE" sz="1200" dirty="0"/>
              <a:t>Branch pushen (z. B. </a:t>
            </a:r>
            <a:r>
              <a:rPr lang="de-DE" sz="1200" dirty="0" err="1"/>
              <a:t>git</a:t>
            </a:r>
            <a:r>
              <a:rPr lang="de-DE" sz="1200" dirty="0"/>
              <a:t> push </a:t>
            </a:r>
            <a:r>
              <a:rPr lang="de-DE" sz="1200" dirty="0" err="1"/>
              <a:t>origin</a:t>
            </a:r>
            <a:r>
              <a:rPr lang="de-DE" sz="1200" dirty="0"/>
              <a:t> feature/</a:t>
            </a:r>
            <a:r>
              <a:rPr lang="de-DE" sz="1200" dirty="0" err="1"/>
              <a:t>login</a:t>
            </a:r>
            <a:r>
              <a:rPr lang="de-DE" sz="1200" dirty="0"/>
              <a:t>-page)</a:t>
            </a:r>
          </a:p>
          <a:p>
            <a:pPr marL="673200" lvl="1" indent="-457200">
              <a:lnSpc>
                <a:spcPct val="110000"/>
              </a:lnSpc>
              <a:buFont typeface="+mj-lt"/>
              <a:buAutoNum type="arabicPeriod"/>
            </a:pPr>
            <a:r>
              <a:rPr lang="de-DE" sz="1200" dirty="0"/>
              <a:t>Auf GitHub / </a:t>
            </a:r>
            <a:r>
              <a:rPr lang="de-DE" sz="1200" dirty="0" err="1"/>
              <a:t>GitLab</a:t>
            </a:r>
            <a:r>
              <a:rPr lang="de-DE" sz="1200" dirty="0"/>
              <a:t> → New Pull Request erstellen</a:t>
            </a:r>
          </a:p>
          <a:p>
            <a:pPr marL="673200" lvl="1" indent="-457200">
              <a:lnSpc>
                <a:spcPct val="110000"/>
              </a:lnSpc>
              <a:buFont typeface="+mj-lt"/>
              <a:buAutoNum type="arabicPeriod"/>
            </a:pPr>
            <a:r>
              <a:rPr lang="de-DE" sz="1200" dirty="0"/>
              <a:t>Beschreibung der Änderung hinzufügen (z. B. Ziel, betroffene Dateien, Referenzen zu </a:t>
            </a:r>
            <a:r>
              <a:rPr lang="de-DE" sz="1200" dirty="0" err="1"/>
              <a:t>Issues</a:t>
            </a:r>
            <a:r>
              <a:rPr lang="de-DE" sz="1200" dirty="0"/>
              <a:t>)</a:t>
            </a:r>
          </a:p>
          <a:p>
            <a:pPr marL="673200" lvl="1" indent="-457200">
              <a:lnSpc>
                <a:spcPct val="110000"/>
              </a:lnSpc>
              <a:buFont typeface="+mj-lt"/>
              <a:buAutoNum type="arabicPeriod"/>
            </a:pPr>
            <a:r>
              <a:rPr lang="de-DE" sz="1200" dirty="0"/>
              <a:t>Code Review durch Teammitglieder</a:t>
            </a:r>
          </a:p>
          <a:p>
            <a:pPr marL="673200" lvl="1" indent="-457200">
              <a:lnSpc>
                <a:spcPct val="110000"/>
              </a:lnSpc>
              <a:buFont typeface="+mj-lt"/>
              <a:buAutoNum type="arabicPeriod"/>
            </a:pPr>
            <a:r>
              <a:rPr lang="de-DE" sz="1200" dirty="0"/>
              <a:t>Diskussion, Kommentare, eventuelle Anpassungen</a:t>
            </a:r>
          </a:p>
          <a:p>
            <a:pPr marL="673200" lvl="1" indent="-457200">
              <a:lnSpc>
                <a:spcPct val="110000"/>
              </a:lnSpc>
              <a:buFont typeface="+mj-lt"/>
              <a:buAutoNum type="arabicPeriod"/>
            </a:pPr>
            <a:r>
              <a:rPr lang="de-DE" sz="1200" dirty="0" err="1"/>
              <a:t>Merge</a:t>
            </a:r>
            <a:r>
              <a:rPr lang="de-DE" sz="1200" dirty="0"/>
              <a:t> nach Freigabe in den Hauptzweig</a:t>
            </a:r>
          </a:p>
          <a:p>
            <a:r>
              <a:rPr lang="de-DE" dirty="0"/>
              <a:t>Vorteile:</a:t>
            </a:r>
          </a:p>
          <a:p>
            <a:pPr lvl="1"/>
            <a:r>
              <a:rPr lang="de-DE" dirty="0"/>
              <a:t>Codequalität sichern</a:t>
            </a:r>
          </a:p>
          <a:p>
            <a:pPr lvl="1"/>
            <a:r>
              <a:rPr lang="de-DE" dirty="0"/>
              <a:t>Wissenstransfer im Team</a:t>
            </a:r>
          </a:p>
          <a:p>
            <a:pPr lvl="1"/>
            <a:r>
              <a:rPr lang="de-DE" dirty="0"/>
              <a:t>Vier-Augen-Prinzip verhindert Fehler im Hauptzweig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ED6BE2E-D4C9-825D-9BE8-4226D18E41F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4EDC93-1770-5151-B20B-922F379A1F2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211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A0C9-6863-4237-FFC6-43CCB70F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34D87-755B-3FED-2C0A-1574902A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Typischer GitHub-Workflow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9C2E6A-718C-4410-1DC5-F79E92163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 err="1"/>
              <a:t>Issue</a:t>
            </a:r>
            <a:r>
              <a:rPr lang="de-DE" dirty="0"/>
              <a:t> oder Bug erstellen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Branch anlegen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Änderungen entwickeln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Commit &amp; Push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Pull Request stellen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Review &amp; </a:t>
            </a:r>
            <a:r>
              <a:rPr lang="de-DE" dirty="0" err="1"/>
              <a:t>Merge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Branch löschen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8DC6B9-835A-1FC1-6E95-A63985D8761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086D96-0540-6243-909C-CF5D3D1147C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070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8BCFDC-E8CB-8571-D61E-46F313C1C1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Projektmanagement mit GitHub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9ABCC76-55C0-76BE-4059-04AD4E2EBE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871F530-7BE4-6189-032C-3F852997EE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9FF9AF4-B481-19C1-C6FE-07D4FB311A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66343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879D49-F3BB-81BD-F884-EEA73E1C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Allgemeines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019F80-5566-17BD-8F6A-28C0D1606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Ziel des Projektmanagements ist es Planung, Organisation und Nachverfolgung der Projektaufgaben effizient und transparent zu gestalten</a:t>
            </a:r>
          </a:p>
          <a:p>
            <a:r>
              <a:rPr lang="de-AT" dirty="0"/>
              <a:t>Tools in der SE z.B. GitHub, Jira oder Microsoft Project</a:t>
            </a:r>
          </a:p>
          <a:p>
            <a:r>
              <a:rPr lang="de-AT" dirty="0"/>
              <a:t>Agiles vs. Klassisches Projektmanagement</a:t>
            </a:r>
          </a:p>
          <a:p>
            <a:r>
              <a:rPr lang="de-AT" dirty="0"/>
              <a:t>Agilen: GitHub, Jira oder </a:t>
            </a:r>
            <a:r>
              <a:rPr lang="de-AT" dirty="0" err="1"/>
              <a:t>Trello</a:t>
            </a:r>
            <a:endParaRPr lang="de-AT" dirty="0"/>
          </a:p>
          <a:p>
            <a:r>
              <a:rPr lang="de-AT" dirty="0"/>
              <a:t>Klassisch: Microsoft Project, </a:t>
            </a:r>
            <a:r>
              <a:rPr lang="de-AT" dirty="0" err="1"/>
              <a:t>GanttProject</a:t>
            </a:r>
            <a:r>
              <a:rPr lang="de-AT" dirty="0"/>
              <a:t> oder </a:t>
            </a:r>
            <a:r>
              <a:rPr lang="de-AT" dirty="0" err="1"/>
              <a:t>OpenProject</a:t>
            </a:r>
            <a:endParaRPr lang="de-AT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691DA8C-5E0D-C316-6673-1DA13AF1AA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017C4F-2AF7-FBB4-1036-F4166886429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828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A1FA55-F00B-4F66-6649-7CA125D8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Grundelemente von GitHub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24BF4C-FE50-3522-8326-11AEE5A5F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AT" dirty="0"/>
              <a:t>Labels </a:t>
            </a:r>
          </a:p>
          <a:p>
            <a:pPr lvl="1"/>
            <a:r>
              <a:rPr lang="de-AT" dirty="0"/>
              <a:t>dienen zur Kategorisierung von </a:t>
            </a:r>
            <a:r>
              <a:rPr lang="de-AT" dirty="0" err="1"/>
              <a:t>Issues</a:t>
            </a:r>
            <a:r>
              <a:rPr lang="de-AT" dirty="0"/>
              <a:t> und Pull </a:t>
            </a:r>
            <a:r>
              <a:rPr lang="de-AT" dirty="0" err="1"/>
              <a:t>Requests</a:t>
            </a:r>
            <a:r>
              <a:rPr lang="de-AT" dirty="0"/>
              <a:t>(</a:t>
            </a:r>
            <a:r>
              <a:rPr lang="de-AT" dirty="0" err="1"/>
              <a:t>bug</a:t>
            </a:r>
            <a:r>
              <a:rPr lang="de-AT" dirty="0"/>
              <a:t>, </a:t>
            </a:r>
            <a:r>
              <a:rPr lang="de-AT" dirty="0" err="1"/>
              <a:t>enhancement</a:t>
            </a:r>
            <a:r>
              <a:rPr lang="de-AT" dirty="0"/>
              <a:t>, </a:t>
            </a:r>
            <a:r>
              <a:rPr lang="de-AT" dirty="0" err="1"/>
              <a:t>documentation</a:t>
            </a:r>
            <a:r>
              <a:rPr lang="de-AT" dirty="0"/>
              <a:t> oder high </a:t>
            </a:r>
            <a:r>
              <a:rPr lang="de-AT" dirty="0" err="1"/>
              <a:t>priority</a:t>
            </a:r>
            <a:r>
              <a:rPr lang="de-AT" dirty="0"/>
              <a:t>)</a:t>
            </a:r>
          </a:p>
          <a:p>
            <a:pPr lvl="1"/>
            <a:r>
              <a:rPr lang="de-AT" dirty="0"/>
              <a:t>Mithilfe von Farbe kennzeichenbar</a:t>
            </a:r>
          </a:p>
          <a:p>
            <a:r>
              <a:rPr lang="de-AT" dirty="0"/>
              <a:t>Milestones </a:t>
            </a:r>
          </a:p>
          <a:p>
            <a:pPr lvl="1"/>
            <a:r>
              <a:rPr lang="de-AT" dirty="0"/>
              <a:t>sind übergeordnete Etappen oder Releases</a:t>
            </a:r>
          </a:p>
          <a:p>
            <a:pPr lvl="1"/>
            <a:r>
              <a:rPr lang="de-AT" dirty="0"/>
              <a:t>Fassen mehrere </a:t>
            </a:r>
            <a:r>
              <a:rPr lang="de-AT" dirty="0" err="1"/>
              <a:t>Issues</a:t>
            </a:r>
            <a:r>
              <a:rPr lang="de-AT" dirty="0"/>
              <a:t> zusammen, die zu einem gemeinsamen Ziel  gehören (z.B. Sprint 1).</a:t>
            </a:r>
          </a:p>
          <a:p>
            <a:pPr lvl="1"/>
            <a:r>
              <a:rPr lang="de-AT" dirty="0"/>
              <a:t>Fortschritt kann  über die Fortschrittsanzeige verfolgt werden</a:t>
            </a:r>
          </a:p>
          <a:p>
            <a:r>
              <a:rPr lang="de-AT" dirty="0"/>
              <a:t>Roadmap </a:t>
            </a:r>
          </a:p>
          <a:p>
            <a:pPr lvl="1"/>
            <a:r>
              <a:rPr lang="de-AT" dirty="0"/>
              <a:t>zeigt die zeitliche Abfolge der Milestones und Iterationen</a:t>
            </a:r>
          </a:p>
          <a:p>
            <a:pPr lvl="1"/>
            <a:r>
              <a:rPr lang="de-AT" dirty="0"/>
              <a:t>Kann als Project-View mit Zeitleiste visualisiert werden</a:t>
            </a:r>
          </a:p>
          <a:p>
            <a:pPr marL="324000" lvl="1" indent="0">
              <a:buNone/>
            </a:pPr>
            <a:endParaRPr lang="de-AT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B24BF47-118E-EFDE-C0D1-BCEC56C618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49E714-01B7-B3EF-784E-5BB01FC464B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63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52A96-2A6E-3381-34CC-0AC9C4A5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Grundelemente von </a:t>
            </a:r>
            <a:r>
              <a:rPr lang="de-AT" dirty="0" err="1"/>
              <a:t>github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20597E-9850-AB3B-EDE6-668F3822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Iteration</a:t>
            </a:r>
          </a:p>
          <a:p>
            <a:pPr lvl="1"/>
            <a:r>
              <a:rPr lang="de-AT" dirty="0"/>
              <a:t>Ist ein zeitlich begrenzter Entwicklungszyklus</a:t>
            </a:r>
          </a:p>
          <a:p>
            <a:pPr lvl="1"/>
            <a:r>
              <a:rPr lang="de-AT" dirty="0"/>
              <a:t>Kann ebenfalls als Project-View definiert werden</a:t>
            </a:r>
          </a:p>
          <a:p>
            <a:pPr lvl="1"/>
            <a:r>
              <a:rPr lang="de-AT" dirty="0"/>
              <a:t>Aufgaben werden pro Iteration zugewiesen und ausgewertet</a:t>
            </a:r>
          </a:p>
          <a:p>
            <a:r>
              <a:rPr lang="de-AT" dirty="0" err="1"/>
              <a:t>Priority</a:t>
            </a:r>
            <a:r>
              <a:rPr lang="de-AT" dirty="0"/>
              <a:t> </a:t>
            </a:r>
          </a:p>
          <a:p>
            <a:pPr lvl="1"/>
            <a:r>
              <a:rPr lang="de-AT" dirty="0"/>
              <a:t>Bestimmt Dringlichkeit einer Aufgabe</a:t>
            </a:r>
          </a:p>
          <a:p>
            <a:pPr lvl="1"/>
            <a:r>
              <a:rPr lang="de-AT" dirty="0"/>
              <a:t>Wird mittels Labels(</a:t>
            </a:r>
            <a:r>
              <a:rPr lang="de-AT" dirty="0" err="1"/>
              <a:t>low</a:t>
            </a:r>
            <a:r>
              <a:rPr lang="de-AT" dirty="0"/>
              <a:t>, medium, high) abgebildet</a:t>
            </a:r>
          </a:p>
          <a:p>
            <a:r>
              <a:rPr lang="de-AT" dirty="0"/>
              <a:t>Backlog</a:t>
            </a:r>
          </a:p>
          <a:p>
            <a:pPr lvl="1"/>
            <a:r>
              <a:rPr lang="de-AT" dirty="0"/>
              <a:t>Enthält alle offenen Ideen, Anforderungen und Aufgaben, die nicht zu einer Iteration zugeordnet sind</a:t>
            </a:r>
          </a:p>
          <a:p>
            <a:pPr lvl="1"/>
            <a:r>
              <a:rPr lang="de-AT" dirty="0"/>
              <a:t>Eigene Spalte im Kanban-Board möglich</a:t>
            </a:r>
          </a:p>
          <a:p>
            <a:pPr marL="0" indent="0">
              <a:buNone/>
            </a:pPr>
            <a:endParaRPr lang="de-AT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143DFBD-8531-6670-0120-10F1775E1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33B506-4CC8-9C52-6C08-425BD71FADF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140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957072-B9B2-40EF-6178-3BD39F48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Grundelemente von </a:t>
            </a:r>
            <a:r>
              <a:rPr lang="de-AT" dirty="0" err="1"/>
              <a:t>github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2F1817-B67C-1861-4C4C-72265159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Kanban-Board</a:t>
            </a:r>
          </a:p>
          <a:p>
            <a:pPr lvl="1"/>
            <a:r>
              <a:rPr lang="de-AT" dirty="0"/>
              <a:t>Visualisiert den aktuellen Status aller Aufgaben </a:t>
            </a:r>
          </a:p>
          <a:p>
            <a:pPr lvl="1"/>
            <a:r>
              <a:rPr lang="de-AT" dirty="0"/>
              <a:t>Bsp. für Spalten: Backlog, </a:t>
            </a:r>
            <a:r>
              <a:rPr lang="de-AT" dirty="0" err="1"/>
              <a:t>To</a:t>
            </a:r>
            <a:r>
              <a:rPr lang="de-AT" dirty="0"/>
              <a:t> Do, In Progress, In Review, </a:t>
            </a:r>
            <a:r>
              <a:rPr lang="de-AT" dirty="0" err="1"/>
              <a:t>Done</a:t>
            </a:r>
            <a:r>
              <a:rPr lang="de-AT" dirty="0"/>
              <a:t>,…</a:t>
            </a:r>
          </a:p>
          <a:p>
            <a:pPr lvl="1"/>
            <a:r>
              <a:rPr lang="de-AT" dirty="0"/>
              <a:t>Automatisch aktualisiert wenn </a:t>
            </a:r>
            <a:r>
              <a:rPr lang="de-AT" dirty="0" err="1"/>
              <a:t>Issues</a:t>
            </a:r>
            <a:r>
              <a:rPr lang="de-AT" dirty="0"/>
              <a:t> ihren Status ändern</a:t>
            </a:r>
          </a:p>
          <a:p>
            <a:r>
              <a:rPr lang="de-AT" dirty="0"/>
              <a:t>Bugs</a:t>
            </a:r>
          </a:p>
          <a:p>
            <a:pPr lvl="1"/>
            <a:r>
              <a:rPr lang="de-AT" dirty="0"/>
              <a:t>Fehler im Code oder Verhalten der Anwendung</a:t>
            </a:r>
          </a:p>
          <a:p>
            <a:pPr lvl="1"/>
            <a:r>
              <a:rPr lang="de-AT" dirty="0" err="1"/>
              <a:t>Issues</a:t>
            </a:r>
            <a:r>
              <a:rPr lang="de-AT" dirty="0"/>
              <a:t> mit Label </a:t>
            </a:r>
            <a:r>
              <a:rPr lang="de-AT" dirty="0" err="1"/>
              <a:t>bug</a:t>
            </a:r>
            <a:endParaRPr lang="de-AT" dirty="0"/>
          </a:p>
          <a:p>
            <a:r>
              <a:rPr lang="de-AT" dirty="0"/>
              <a:t>Views</a:t>
            </a:r>
          </a:p>
          <a:p>
            <a:pPr lvl="1"/>
            <a:r>
              <a:rPr lang="de-AT" dirty="0"/>
              <a:t>Verschiedene Ansichten der Project-Daten (</a:t>
            </a:r>
            <a:r>
              <a:rPr lang="de-AT" dirty="0" err="1"/>
              <a:t>Issues</a:t>
            </a:r>
            <a:r>
              <a:rPr lang="de-AT" dirty="0"/>
              <a:t>, Pull Request, Aufgaben, Felder)</a:t>
            </a:r>
          </a:p>
          <a:p>
            <a:pPr lvl="1"/>
            <a:r>
              <a:rPr lang="de-AT" dirty="0"/>
              <a:t>Darstellung möglich mittels Kanban-Board, Tabelle, Roadmap oder Timeline 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06467EB-79A0-78C7-0D5D-92456FAA1F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91C129-DD89-6AD6-F205-8EF52A9B6B0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255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BF07E4-4B40-08E2-28E8-5F5EB9BD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Dokumentation von planungsaufwand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C331F1-5753-7597-A10D-E51B7BE45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Size </a:t>
            </a:r>
          </a:p>
          <a:p>
            <a:pPr lvl="1"/>
            <a:r>
              <a:rPr lang="de-AT" dirty="0"/>
              <a:t>Beschreibt Größe oder Komplexität der Aufgabe </a:t>
            </a:r>
          </a:p>
          <a:p>
            <a:pPr lvl="1"/>
            <a:r>
              <a:rPr lang="de-AT" dirty="0"/>
              <a:t>Geschätzt durch Fibonacci-Zahlen oder T-Shirt-Größe</a:t>
            </a:r>
          </a:p>
          <a:p>
            <a:r>
              <a:rPr lang="de-AT" dirty="0" err="1"/>
              <a:t>Estimate</a:t>
            </a:r>
            <a:endParaRPr lang="de-AT" dirty="0"/>
          </a:p>
          <a:p>
            <a:pPr lvl="1"/>
            <a:r>
              <a:rPr lang="de-AT" dirty="0"/>
              <a:t>Gibt den geschätzten Zeitaufwand(Stunden oder Tagen) an</a:t>
            </a:r>
          </a:p>
          <a:p>
            <a:pPr lvl="1"/>
            <a:r>
              <a:rPr lang="de-AT" dirty="0"/>
              <a:t>Hilfreich bei Sprintplanung und Auslastungsanalyse</a:t>
            </a:r>
          </a:p>
          <a:p>
            <a:pPr lvl="1"/>
            <a:r>
              <a:rPr lang="de-AT" dirty="0"/>
              <a:t>Feld für </a:t>
            </a:r>
            <a:r>
              <a:rPr lang="de-AT" dirty="0" err="1"/>
              <a:t>Estimate</a:t>
            </a:r>
            <a:r>
              <a:rPr lang="de-AT" dirty="0"/>
              <a:t> oder Story Points</a:t>
            </a:r>
          </a:p>
          <a:p>
            <a:endParaRPr lang="de-AT" sz="2200" dirty="0"/>
          </a:p>
          <a:p>
            <a:pPr marL="324000" lvl="1" indent="0">
              <a:buNone/>
            </a:pPr>
            <a:endParaRPr lang="de-AT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4BFB6227-2A40-4EF4-C9B9-E874C2E8B4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E0606A-7821-3178-F69C-C6BAA21D5FC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97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13AFAC5-D8E8-41C9-B023-C5D9AC48FD0E}" vid="{FA9F25FB-E87D-4462-AB13-B746242A0510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JKU_Praesentation_DE_16_9_2020_01_1_ (1)</Template>
  <TotalTime>0</TotalTime>
  <Words>1105</Words>
  <Application>Microsoft Office PowerPoint</Application>
  <PresentationFormat>Breitbild</PresentationFormat>
  <Paragraphs>180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Wingdings</vt:lpstr>
      <vt:lpstr>Wingdings 2</vt:lpstr>
      <vt:lpstr>Office</vt:lpstr>
      <vt:lpstr>PowerPoint-Präsentation</vt:lpstr>
      <vt:lpstr>Meilenstein 0</vt:lpstr>
      <vt:lpstr>SCRUM</vt:lpstr>
      <vt:lpstr>Was ist Scrum?</vt:lpstr>
      <vt:lpstr>Rollen im Scrum-Team</vt:lpstr>
      <vt:lpstr>Scrum Artefakte</vt:lpstr>
      <vt:lpstr>Scrum Prozess</vt:lpstr>
      <vt:lpstr>Das wichtigste zu Scrum</vt:lpstr>
      <vt:lpstr>Sourcecodeverwaltung per Github</vt:lpstr>
      <vt:lpstr>Grundlagen von Git und GitHub</vt:lpstr>
      <vt:lpstr>Checkout / Clone</vt:lpstr>
      <vt:lpstr>Commit und Push</vt:lpstr>
      <vt:lpstr>Referenzen auf Requirements, User Stories und Tasks</vt:lpstr>
      <vt:lpstr>Branching (Feature-Branches, Bugfixes)</vt:lpstr>
      <vt:lpstr>Merge und Konfliktlösung</vt:lpstr>
      <vt:lpstr>Pull Requests</vt:lpstr>
      <vt:lpstr>Typischer GitHub-Workflow</vt:lpstr>
      <vt:lpstr>Projektmanagement mit GitHub</vt:lpstr>
      <vt:lpstr>Allgemeines</vt:lpstr>
      <vt:lpstr>Grundelemente von GitHub</vt:lpstr>
      <vt:lpstr>Grundelemente von github</vt:lpstr>
      <vt:lpstr>Grundelemente von github</vt:lpstr>
      <vt:lpstr>Dokumentation von planungsaufwand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Dratlehner</dc:creator>
  <cp:lastModifiedBy>Michael Dratlehner</cp:lastModifiedBy>
  <cp:revision>7</cp:revision>
  <cp:lastPrinted>2015-10-19T12:36:16Z</cp:lastPrinted>
  <dcterms:created xsi:type="dcterms:W3CDTF">2025-10-27T20:27:44Z</dcterms:created>
  <dcterms:modified xsi:type="dcterms:W3CDTF">2025-11-06T19:28:29Z</dcterms:modified>
</cp:coreProperties>
</file>