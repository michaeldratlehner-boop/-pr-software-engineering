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288"/>
    <a:srgbClr val="D8D8DA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408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04.11.2025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04.11.2025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2227" y="1463400"/>
            <a:ext cx="6599546" cy="39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217960" y="216000"/>
            <a:ext cx="8708080" cy="642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2227" y="1463400"/>
            <a:ext cx="6599546" cy="39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4971" y="551477"/>
            <a:ext cx="7938000" cy="1943630"/>
          </a:xfrm>
        </p:spPr>
        <p:txBody>
          <a:bodyPr anchor="b">
            <a:noAutofit/>
          </a:bodyPr>
          <a:lstStyle>
            <a:lvl1pPr algn="l">
              <a:defRPr sz="4500" baseline="0">
                <a:latin typeface="Arial Black" panose="020B0A04020102020204" pitchFamily="34" charset="0"/>
              </a:defRPr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den Titel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6045" y="3879265"/>
            <a:ext cx="7926926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AT" noProof="0" dirty="0"/>
              <a:t>Platz für Details und Erklärungen zum Thema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5957925" y="5472268"/>
            <a:ext cx="1385047" cy="7704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305" y="5191200"/>
            <a:ext cx="2115244" cy="12600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39" t="15819" r="44018" b="42469"/>
          <a:stretch/>
        </p:blipFill>
        <p:spPr>
          <a:xfrm>
            <a:off x="451069" y="2412000"/>
            <a:ext cx="1730551" cy="1501200"/>
          </a:xfrm>
          <a:prstGeom prst="rect">
            <a:avLst/>
          </a:prstGeom>
        </p:spPr>
      </p:pic>
      <p:sp>
        <p:nvSpPr>
          <p:cNvPr id="12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181509" y="2623322"/>
            <a:ext cx="6301462" cy="1130300"/>
          </a:xfrm>
        </p:spPr>
        <p:txBody>
          <a:bodyPr anchor="ctr"/>
          <a:lstStyle>
            <a:lvl1pPr marL="0" indent="0">
              <a:buNone/>
              <a:defRPr baseline="0">
                <a:latin typeface="+mj-lt"/>
              </a:defRPr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Tx/>
              <a:buSzPct val="90000"/>
              <a:tabLst/>
              <a:defRPr/>
            </a:pPr>
            <a:r>
              <a:rPr lang="de-AT" dirty="0"/>
              <a:t>Platz für einen Untertitel</a:t>
            </a:r>
          </a:p>
        </p:txBody>
      </p:sp>
      <p:pic>
        <p:nvPicPr>
          <p:cNvPr id="5" name="Bild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5539" y="5468397"/>
            <a:ext cx="1057432" cy="77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50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460" y="4810654"/>
            <a:ext cx="7924140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AT" noProof="0" dirty="0"/>
              <a:t>Platz für Details und Erklärungen zum Thema.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543600" y="1181193"/>
            <a:ext cx="7938000" cy="222628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AT" noProof="0" dirty="0"/>
              <a:t>Platz für </a:t>
            </a:r>
            <a:br>
              <a:rPr lang="de-AT" noProof="0" dirty="0"/>
            </a:br>
            <a:r>
              <a:rPr lang="de-AT" noProof="0" dirty="0"/>
              <a:t>den Titel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39" t="15819" r="44018" b="42469"/>
          <a:stretch/>
        </p:blipFill>
        <p:spPr>
          <a:xfrm>
            <a:off x="450000" y="3314568"/>
            <a:ext cx="1730551" cy="1501200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180551" y="3543300"/>
            <a:ext cx="6301462" cy="1130300"/>
          </a:xfrm>
        </p:spPr>
        <p:txBody>
          <a:bodyPr anchor="ctr"/>
          <a:lstStyle>
            <a:lvl1pPr marL="0" indent="0">
              <a:buNone/>
              <a:defRPr baseline="0">
                <a:latin typeface="+mj-lt"/>
              </a:defRPr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Tx/>
              <a:buSzPct val="90000"/>
              <a:tabLst/>
              <a:defRPr/>
            </a:pPr>
            <a:r>
              <a:rPr lang="de-AT" dirty="0"/>
              <a:t>Platz für einen Untertitel</a:t>
            </a:r>
          </a:p>
        </p:txBody>
      </p:sp>
    </p:spTree>
    <p:extLst>
      <p:ext uri="{BB962C8B-B14F-4D97-AF65-F5344CB8AC3E}">
        <p14:creationId xmlns:p14="http://schemas.microsoft.com/office/powerpoint/2010/main" val="31764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3600" y="1936933"/>
            <a:ext cx="7938000" cy="470091"/>
          </a:xfrm>
        </p:spPr>
        <p:txBody>
          <a:bodyPr/>
          <a:lstStyle>
            <a:lvl1pPr>
              <a:defRPr/>
            </a:lvl1pPr>
          </a:lstStyle>
          <a:p>
            <a:r>
              <a:rPr lang="de-AT" noProof="0" dirty="0"/>
              <a:t>In Kooperation mit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3852000" y="26722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5443236" y="2672237"/>
            <a:ext cx="1440000" cy="1440000"/>
          </a:xfr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</p:txBody>
      </p:sp>
      <p:sp>
        <p:nvSpPr>
          <p:cNvPr id="9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7039492" y="2672237"/>
            <a:ext cx="1440000" cy="1440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656621" y="26722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2271800" y="2671200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8" hasCustomPrompt="1"/>
          </p:nvPr>
        </p:nvSpPr>
        <p:spPr>
          <a:xfrm>
            <a:off x="3852000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9" hasCustomPrompt="1"/>
          </p:nvPr>
        </p:nvSpPr>
        <p:spPr>
          <a:xfrm>
            <a:off x="5443236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4" name="Bildplatzhalter 6"/>
          <p:cNvSpPr>
            <a:spLocks noGrp="1"/>
          </p:cNvSpPr>
          <p:nvPr>
            <p:ph type="pic" sz="quarter" idx="20" hasCustomPrompt="1"/>
          </p:nvPr>
        </p:nvSpPr>
        <p:spPr>
          <a:xfrm>
            <a:off x="7039492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5" name="Bildplatzhalter 6"/>
          <p:cNvSpPr>
            <a:spLocks noGrp="1"/>
          </p:cNvSpPr>
          <p:nvPr>
            <p:ph type="pic" sz="quarter" idx="21" hasCustomPrompt="1"/>
          </p:nvPr>
        </p:nvSpPr>
        <p:spPr>
          <a:xfrm>
            <a:off x="656621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6" name="Bildplatzhalter 6"/>
          <p:cNvSpPr>
            <a:spLocks noGrp="1"/>
          </p:cNvSpPr>
          <p:nvPr>
            <p:ph type="pic" sz="quarter" idx="22" hasCustomPrompt="1"/>
          </p:nvPr>
        </p:nvSpPr>
        <p:spPr>
          <a:xfrm>
            <a:off x="2271800" y="4271400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907" y="403200"/>
            <a:ext cx="211524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49322" y="1779938"/>
            <a:ext cx="7938000" cy="4424400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000"/>
              </a:spcBef>
              <a:buFontTx/>
              <a:buNone/>
              <a:defRPr lang="de-AT" sz="1700" kern="1200" baseline="0" noProof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266700">
              <a:lnSpc>
                <a:spcPct val="105000"/>
              </a:lnSpc>
              <a:spcBef>
                <a:spcPts val="0"/>
              </a:spcBef>
              <a:buFont typeface="Wingdings 2" panose="05020102010507070707" pitchFamily="18" charset="2"/>
              <a:buChar char=""/>
              <a:defRPr sz="1500"/>
            </a:lvl2pPr>
          </a:lstStyle>
          <a:p>
            <a:pPr lvl="0"/>
            <a:r>
              <a:rPr lang="de-AT" noProof="0" dirty="0"/>
              <a:t>Kapitel 1</a:t>
            </a:r>
          </a:p>
          <a:p>
            <a:pPr lvl="1"/>
            <a:r>
              <a:rPr lang="de-AT" noProof="0" dirty="0"/>
              <a:t>Unterkapitel 1</a:t>
            </a:r>
          </a:p>
          <a:p>
            <a:pPr lvl="1"/>
            <a:r>
              <a:rPr lang="de-AT" noProof="0" dirty="0"/>
              <a:t>Unterkapitel 2</a:t>
            </a:r>
          </a:p>
          <a:p>
            <a:pPr marL="0" lv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  <a:buSzPct val="90000"/>
              <a:buFontTx/>
              <a:buNone/>
            </a:pPr>
            <a:r>
              <a:rPr lang="de-AT" noProof="0" dirty="0"/>
              <a:t>Kapitel 2</a:t>
            </a:r>
          </a:p>
          <a:p>
            <a:pPr lvl="1"/>
            <a:r>
              <a:rPr lang="de-AT" noProof="0" dirty="0"/>
              <a:t>Unterkapitel 1</a:t>
            </a:r>
          </a:p>
          <a:p>
            <a:pPr lvl="1"/>
            <a:r>
              <a:rPr lang="de-AT" noProof="0" dirty="0"/>
              <a:t>Unterkapitel 2</a:t>
            </a:r>
          </a:p>
          <a:p>
            <a:pPr marL="0" lv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  <a:buSzPct val="90000"/>
              <a:buFontTx/>
              <a:buNone/>
            </a:pPr>
            <a:r>
              <a:rPr lang="de-AT" noProof="0" dirty="0"/>
              <a:t>Kapitel 3</a:t>
            </a:r>
          </a:p>
          <a:p>
            <a:pPr lvl="1"/>
            <a:r>
              <a:rPr lang="de-AT" noProof="0" dirty="0"/>
              <a:t>Unterkapitel 1</a:t>
            </a:r>
          </a:p>
          <a:p>
            <a:pPr lvl="1"/>
            <a:r>
              <a:rPr lang="de-AT" noProof="0" dirty="0"/>
              <a:t>Unterkapitel 2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 dirty="0"/>
              <a:t>Felician Tröbinger	259.035 </a:t>
            </a:r>
            <a:endParaRPr lang="de-AT" noProof="0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49322" y="651700"/>
            <a:ext cx="7938194" cy="9386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noProof="0" dirty="0"/>
              <a:t>Platz für</a:t>
            </a:r>
            <a:br>
              <a:rPr lang="de-DE" noProof="0" dirty="0"/>
            </a:br>
            <a:r>
              <a:rPr lang="de-DE" noProof="0" dirty="0"/>
              <a:t>EINE ÜBERSICHT / AGENDA</a:t>
            </a:r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 Bild / etc. mit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Titel und Text, Bilder, etc.</a:t>
            </a:r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48268" y="5927411"/>
            <a:ext cx="7925378" cy="278642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dirty="0"/>
              <a:t>Felician Tröbinger	259.035 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/>
            </a:lvl1pPr>
          </a:lstStyle>
          <a:p>
            <a:fld id="{DFB297D7-21D1-0549-A74D-BD032133048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268" y="1777395"/>
            <a:ext cx="7925378" cy="4150016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 Bild / etc. ohne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Titel und Text, Bilder, etc.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68" y="1777395"/>
            <a:ext cx="7925378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dirty="0"/>
              <a:t>Felician Tröbinger	259.035 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/>
            </a:lvl1pPr>
          </a:lstStyle>
          <a:p>
            <a:fld id="{2FCA2C60-3929-1D49-B29C-C60A97789EE3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Titel und vergleich</a:t>
            </a:r>
          </a:p>
        </p:txBody>
      </p:sp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 dirty="0"/>
              <a:t>Felician Tröbinger	259.035 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48268" y="1777395"/>
            <a:ext cx="37944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  <p:sp>
        <p:nvSpPr>
          <p:cNvPr id="14" name="Content Placeholder 2"/>
          <p:cNvSpPr>
            <a:spLocks noGrp="1"/>
          </p:cNvSpPr>
          <p:nvPr>
            <p:ph idx="17"/>
          </p:nvPr>
        </p:nvSpPr>
        <p:spPr>
          <a:xfrm>
            <a:off x="4693116" y="1777395"/>
            <a:ext cx="37944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 mit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0800" y="651700"/>
            <a:ext cx="7938000" cy="9386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, </a:t>
            </a:r>
            <a:r>
              <a:rPr lang="de-DE" dirty="0" err="1"/>
              <a:t>grosses</a:t>
            </a:r>
            <a:r>
              <a:rPr lang="de-DE" dirty="0"/>
              <a:t> </a:t>
            </a:r>
            <a:r>
              <a:rPr lang="de-DE" dirty="0" err="1"/>
              <a:t>bild</a:t>
            </a:r>
            <a:r>
              <a:rPr lang="de-DE" dirty="0"/>
              <a:t> und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50800" y="1778400"/>
            <a:ext cx="5184000" cy="44271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50800" y="5927411"/>
            <a:ext cx="51840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55200" y="1778400"/>
            <a:ext cx="24336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 ohne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0800" y="651700"/>
            <a:ext cx="7938000" cy="9386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, </a:t>
            </a:r>
            <a:r>
              <a:rPr lang="de-DE" dirty="0" err="1"/>
              <a:t>grosses</a:t>
            </a:r>
            <a:r>
              <a:rPr lang="de-DE" dirty="0"/>
              <a:t> </a:t>
            </a:r>
            <a:r>
              <a:rPr lang="de-DE" dirty="0" err="1"/>
              <a:t>bild</a:t>
            </a:r>
            <a:r>
              <a:rPr lang="de-DE" dirty="0"/>
              <a:t> und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50800" y="1778400"/>
            <a:ext cx="5184000" cy="44271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dirty="0"/>
              <a:t>Felician Tröbinger	259.035 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55200" y="1778400"/>
            <a:ext cx="24336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 err="1"/>
              <a:t>titel</a:t>
            </a:r>
            <a:r>
              <a:rPr lang="de-AT" noProof="0" dirty="0"/>
              <a:t>, 3 kleine </a:t>
            </a:r>
            <a:r>
              <a:rPr lang="de-AT" noProof="0" dirty="0" err="1"/>
              <a:t>bilder</a:t>
            </a:r>
            <a:r>
              <a:rPr lang="de-AT" noProof="0" dirty="0"/>
              <a:t> und </a:t>
            </a:r>
            <a:r>
              <a:rPr lang="de-AT" noProof="0" dirty="0" err="1"/>
              <a:t>text</a:t>
            </a:r>
            <a:endParaRPr lang="de-AT" noProof="0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49322" y="1777809"/>
            <a:ext cx="2414023" cy="136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49322" y="3309042"/>
            <a:ext cx="2414023" cy="136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49322" y="4834936"/>
            <a:ext cx="2414023" cy="136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6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 dirty="0"/>
              <a:t>Felician Tröbinger	259.035 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4" name="Rechteck 13"/>
          <p:cNvSpPr/>
          <p:nvPr userDrawn="1"/>
        </p:nvSpPr>
        <p:spPr>
          <a:xfrm>
            <a:off x="3683660" y="1444171"/>
            <a:ext cx="4699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3404316" y="1777809"/>
            <a:ext cx="50832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, schmales </a:t>
            </a:r>
            <a:r>
              <a:rPr lang="de-DE" dirty="0" err="1"/>
              <a:t>bild</a:t>
            </a:r>
            <a:r>
              <a:rPr lang="de-DE" dirty="0"/>
              <a:t> und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49322" y="1778467"/>
            <a:ext cx="2418223" cy="442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 dirty="0"/>
              <a:t>Felician Tröbinger	259.035 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4316" y="1777809"/>
            <a:ext cx="50832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oßes Image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 und </a:t>
            </a:r>
            <a:r>
              <a:rPr lang="de-DE" dirty="0" err="1"/>
              <a:t>grosses</a:t>
            </a:r>
            <a:r>
              <a:rPr lang="de-DE" dirty="0"/>
              <a:t> </a:t>
            </a:r>
            <a:r>
              <a:rPr lang="de-DE" dirty="0" err="1"/>
              <a:t>imagebild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 und Formeln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1598864" y="1775981"/>
            <a:ext cx="5940000" cy="4172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98864" y="5948381"/>
            <a:ext cx="5940000" cy="252000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 und </a:t>
            </a:r>
            <a:r>
              <a:rPr lang="de-DE" dirty="0" err="1"/>
              <a:t>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49322" y="1785900"/>
            <a:ext cx="7935578" cy="4172400"/>
          </a:xfr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8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49322" y="5958300"/>
            <a:ext cx="7935578" cy="252000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dirty="0"/>
              <a:t>Felician Tröbinger	259.035 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460" y="4810654"/>
            <a:ext cx="6333450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543600" y="1181193"/>
            <a:ext cx="6333450" cy="222628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ein danke</a:t>
            </a:r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39" t="15819" r="44018" b="42469"/>
          <a:stretch/>
        </p:blipFill>
        <p:spPr>
          <a:xfrm>
            <a:off x="450000" y="3314568"/>
            <a:ext cx="1730551" cy="1501200"/>
          </a:xfrm>
          <a:prstGeom prst="rect">
            <a:avLst/>
          </a:prstGeom>
        </p:spPr>
      </p:pic>
      <p:sp>
        <p:nvSpPr>
          <p:cNvPr id="6" name="Textfeld 5"/>
          <p:cNvSpPr txBox="1"/>
          <p:nvPr userDrawn="1"/>
        </p:nvSpPr>
        <p:spPr>
          <a:xfrm>
            <a:off x="7179820" y="5554800"/>
            <a:ext cx="1380286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www.jku.at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907" y="403200"/>
            <a:ext cx="211524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39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322" y="651700"/>
            <a:ext cx="7938194" cy="9386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AT" noProof="0" dirty="0"/>
              <a:t>TitelmUsterformat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646" y="1777395"/>
            <a:ext cx="7938000" cy="4428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AT" noProof="0" dirty="0"/>
              <a:t>Textmasterformat bearbeiten</a:t>
            </a:r>
          </a:p>
          <a:p>
            <a:pPr lvl="1"/>
            <a:r>
              <a:rPr lang="de-AT" noProof="0" dirty="0"/>
              <a:t>Zweite Ebene</a:t>
            </a:r>
          </a:p>
          <a:p>
            <a:pPr lvl="2"/>
            <a:r>
              <a:rPr lang="de-AT" noProof="0" dirty="0"/>
              <a:t>Dritte Ebene</a:t>
            </a:r>
          </a:p>
          <a:p>
            <a:pPr lvl="3"/>
            <a:r>
              <a:rPr lang="de-AT" noProof="0" dirty="0"/>
              <a:t>Vierte Ebene</a:t>
            </a:r>
          </a:p>
          <a:p>
            <a:pPr lvl="4"/>
            <a:r>
              <a:rPr lang="de-AT" noProof="0" dirty="0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86433" y="6397200"/>
            <a:ext cx="11734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73550" y="639554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 noProof="0" dirty="0"/>
              <a:t>Platz für Autor und LVA-Nummer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87836" y="6395540"/>
            <a:ext cx="514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  <a:latin typeface="+mn-lt"/>
              </a:defRPr>
            </a:lvl1pPr>
          </a:lstStyle>
          <a:p>
            <a:fld id="{977D763E-6462-E748-A364-8301CFB7D350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91" t="9873" r="13244" b="34352"/>
          <a:stretch/>
        </p:blipFill>
        <p:spPr>
          <a:xfrm>
            <a:off x="600037" y="6326089"/>
            <a:ext cx="914352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9" r:id="rId2"/>
    <p:sldLayoutId id="2147483668" r:id="rId3"/>
    <p:sldLayoutId id="2147483661" r:id="rId4"/>
    <p:sldLayoutId id="2147483669" r:id="rId5"/>
    <p:sldLayoutId id="2147483670" r:id="rId6"/>
    <p:sldLayoutId id="2147483662" r:id="rId7"/>
    <p:sldLayoutId id="2147483681" r:id="rId8"/>
    <p:sldLayoutId id="2147483664" r:id="rId9"/>
    <p:sldLayoutId id="2147483683" r:id="rId10"/>
    <p:sldLayoutId id="2147483684" r:id="rId11"/>
    <p:sldLayoutId id="2147483675" r:id="rId12"/>
    <p:sldLayoutId id="2147483674" r:id="rId13"/>
    <p:sldLayoutId id="2147483666" r:id="rId14"/>
    <p:sldLayoutId id="2147483672" r:id="rId15"/>
    <p:sldLayoutId id="2147483673" r:id="rId16"/>
    <p:sldLayoutId id="2147483680" r:id="rId17"/>
  </p:sldLayoutIdLst>
  <p:hf hd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324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90000"/>
        <a:buFont typeface="Wingdings 2" panose="05020102010507070707" pitchFamily="18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48000" indent="-324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90000"/>
        <a:buFont typeface="Wingdings 2" panose="05020102010507070707" pitchFamily="18" charset="2"/>
        <a:buChar char="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-288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Wingdings 2" panose="05020102010507070707" pitchFamily="18" charset="2"/>
        <a:buChar char="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000" indent="-288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Wingdings 2" panose="05020102010507070707" pitchFamily="18" charset="2"/>
        <a:buChar char="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000" indent="-288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Wingdings 2" panose="05020102010507070707" pitchFamily="18" charset="2"/>
        <a:buChar char="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4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85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BCFDC-E8CB-8571-D61E-46F313C1C1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Projekt 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ABCC76-55C0-76BE-4059-04AD4E2EB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871F530-7BE4-6189-032C-3F852997EE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FF9AF4-B481-19C1-C6FE-07D4FB311A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/>
              <a:t>Projektmanagement mit GitHub</a:t>
            </a:r>
          </a:p>
        </p:txBody>
      </p:sp>
    </p:spTree>
    <p:extLst>
      <p:ext uri="{BB962C8B-B14F-4D97-AF65-F5344CB8AC3E}">
        <p14:creationId xmlns:p14="http://schemas.microsoft.com/office/powerpoint/2010/main" val="376634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879D49-F3BB-81BD-F884-EEA73E1C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Allgemeines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019F80-5566-17BD-8F6A-28C0D1606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Ziel des Projektmanagements ist es Planung, Organisation und Nachverfolgung der Projektaufgaben effizient und transparent zu gestalten</a:t>
            </a:r>
          </a:p>
          <a:p>
            <a:r>
              <a:rPr lang="de-AT" dirty="0"/>
              <a:t>Tools in der SE z.B. GitHub, Jira oder Microsoft Project</a:t>
            </a:r>
          </a:p>
          <a:p>
            <a:r>
              <a:rPr lang="de-AT" dirty="0"/>
              <a:t>Agiles vs. Klassisches Projektmanagement</a:t>
            </a:r>
          </a:p>
          <a:p>
            <a:r>
              <a:rPr lang="de-AT" dirty="0"/>
              <a:t>Agilen: GitHub, Jira oder </a:t>
            </a:r>
            <a:r>
              <a:rPr lang="de-AT" dirty="0" err="1"/>
              <a:t>Trello</a:t>
            </a:r>
            <a:endParaRPr lang="de-AT" dirty="0"/>
          </a:p>
          <a:p>
            <a:r>
              <a:rPr lang="de-AT" dirty="0"/>
              <a:t>Klassisch: Microsoft Project, </a:t>
            </a:r>
            <a:r>
              <a:rPr lang="de-AT" dirty="0" err="1"/>
              <a:t>GanttProject</a:t>
            </a:r>
            <a:r>
              <a:rPr lang="de-AT" dirty="0"/>
              <a:t> oder </a:t>
            </a:r>
            <a:r>
              <a:rPr lang="de-AT" dirty="0" err="1"/>
              <a:t>OpenProject</a:t>
            </a:r>
            <a:endParaRPr lang="de-AT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691DA8C-5E0D-C316-6673-1DA13AF1AA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5473E9-8955-DD71-B261-51CABE038D7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/>
              <a:t>Felician Tröbinger	259.035 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017C4F-2AF7-FBB4-1036-F4166886429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82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1FA55-F00B-4F66-6649-7CA125D8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Grundelemente von GitHub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24BF4C-FE50-3522-8326-11AEE5A5F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Labels </a:t>
            </a:r>
          </a:p>
          <a:p>
            <a:pPr lvl="1"/>
            <a:r>
              <a:rPr lang="de-AT" dirty="0"/>
              <a:t>dienen zur Kategorisierung von </a:t>
            </a:r>
            <a:r>
              <a:rPr lang="de-AT" dirty="0" err="1"/>
              <a:t>Issues</a:t>
            </a:r>
            <a:r>
              <a:rPr lang="de-AT" dirty="0"/>
              <a:t> und Pull </a:t>
            </a:r>
            <a:r>
              <a:rPr lang="de-AT" dirty="0" err="1"/>
              <a:t>Requests</a:t>
            </a:r>
            <a:r>
              <a:rPr lang="de-AT" dirty="0"/>
              <a:t>(</a:t>
            </a:r>
            <a:r>
              <a:rPr lang="de-AT" dirty="0" err="1"/>
              <a:t>bug</a:t>
            </a:r>
            <a:r>
              <a:rPr lang="de-AT" dirty="0"/>
              <a:t>, </a:t>
            </a:r>
            <a:r>
              <a:rPr lang="de-AT" dirty="0" err="1"/>
              <a:t>enhancement</a:t>
            </a:r>
            <a:r>
              <a:rPr lang="de-AT" dirty="0"/>
              <a:t>, </a:t>
            </a:r>
            <a:r>
              <a:rPr lang="de-AT" dirty="0" err="1"/>
              <a:t>documentation</a:t>
            </a:r>
            <a:r>
              <a:rPr lang="de-AT" dirty="0"/>
              <a:t> oder high </a:t>
            </a:r>
            <a:r>
              <a:rPr lang="de-AT" dirty="0" err="1"/>
              <a:t>priority</a:t>
            </a:r>
            <a:r>
              <a:rPr lang="de-AT" dirty="0"/>
              <a:t>)</a:t>
            </a:r>
          </a:p>
          <a:p>
            <a:pPr lvl="1"/>
            <a:r>
              <a:rPr lang="de-AT" dirty="0"/>
              <a:t>Mithilfe von Farbe kennzeichenbar</a:t>
            </a:r>
          </a:p>
          <a:p>
            <a:r>
              <a:rPr lang="de-AT" sz="2000" dirty="0"/>
              <a:t>Milestones </a:t>
            </a:r>
          </a:p>
          <a:p>
            <a:pPr lvl="1"/>
            <a:r>
              <a:rPr lang="de-AT" dirty="0"/>
              <a:t>sind übergeordnete Etappen oder Releases</a:t>
            </a:r>
          </a:p>
          <a:p>
            <a:pPr lvl="1"/>
            <a:r>
              <a:rPr lang="de-AT" dirty="0"/>
              <a:t>Fassen mehrere </a:t>
            </a:r>
            <a:r>
              <a:rPr lang="de-AT" dirty="0" err="1"/>
              <a:t>Issues</a:t>
            </a:r>
            <a:r>
              <a:rPr lang="de-AT" dirty="0"/>
              <a:t> zusammen, die zu einem gemeinsamen Ziel  gehören (z.B. Sprint 1).</a:t>
            </a:r>
          </a:p>
          <a:p>
            <a:pPr lvl="1"/>
            <a:r>
              <a:rPr lang="de-AT" dirty="0"/>
              <a:t>Fortschritt kann  über die Fortschrittsanzeige verfolgt werden</a:t>
            </a:r>
          </a:p>
          <a:p>
            <a:r>
              <a:rPr lang="de-AT" dirty="0"/>
              <a:t>Roadmap </a:t>
            </a:r>
          </a:p>
          <a:p>
            <a:pPr lvl="1"/>
            <a:r>
              <a:rPr lang="de-AT" dirty="0"/>
              <a:t>zeigt die zeitliche Abfolge der Milestones und Iterationen</a:t>
            </a:r>
          </a:p>
          <a:p>
            <a:pPr lvl="1"/>
            <a:r>
              <a:rPr lang="de-AT" dirty="0"/>
              <a:t>Kann als Project-View mit Zeitleiste visualisiert werden</a:t>
            </a:r>
            <a:endParaRPr lang="de-AT" sz="2000" dirty="0"/>
          </a:p>
          <a:p>
            <a:pPr marL="324000" lvl="1" indent="0">
              <a:buNone/>
            </a:pPr>
            <a:endParaRPr lang="de-AT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B24BF47-118E-EFDE-C0D1-BCEC56C618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360BEA-C308-D4DA-170C-2F4F559FB80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/>
              <a:t>Felician Tröbinger	259.035 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9E714-01B7-B3EF-784E-5BB01FC464B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6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52A96-2A6E-3381-34CC-0AC9C4A5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Grundelemente von </a:t>
            </a:r>
            <a:r>
              <a:rPr lang="de-AT" dirty="0" err="1"/>
              <a:t>github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0597E-9850-AB3B-EDE6-668F3822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Iteration</a:t>
            </a:r>
          </a:p>
          <a:p>
            <a:pPr lvl="1"/>
            <a:r>
              <a:rPr lang="de-AT" dirty="0"/>
              <a:t>Ist ein zeitlich begrenzter Entwicklungszyklus</a:t>
            </a:r>
          </a:p>
          <a:p>
            <a:pPr lvl="1"/>
            <a:r>
              <a:rPr lang="de-AT" dirty="0"/>
              <a:t>Kann ebenfalls als Project-View definiert werden</a:t>
            </a:r>
          </a:p>
          <a:p>
            <a:pPr lvl="1"/>
            <a:r>
              <a:rPr lang="de-AT" dirty="0"/>
              <a:t>Aufgaben werden pro Iteration zugewiesen und ausgewertet</a:t>
            </a:r>
          </a:p>
          <a:p>
            <a:r>
              <a:rPr lang="de-AT" dirty="0" err="1"/>
              <a:t>Priority</a:t>
            </a:r>
            <a:r>
              <a:rPr lang="de-AT" dirty="0"/>
              <a:t> </a:t>
            </a:r>
          </a:p>
          <a:p>
            <a:pPr lvl="1"/>
            <a:r>
              <a:rPr lang="de-AT" dirty="0"/>
              <a:t>Bestimmt Dringlichkeit einer Aufgabe</a:t>
            </a:r>
          </a:p>
          <a:p>
            <a:pPr lvl="1"/>
            <a:r>
              <a:rPr lang="de-AT" dirty="0"/>
              <a:t>Wird mittels Labels(</a:t>
            </a:r>
            <a:r>
              <a:rPr lang="de-AT" dirty="0" err="1"/>
              <a:t>low</a:t>
            </a:r>
            <a:r>
              <a:rPr lang="de-AT" dirty="0"/>
              <a:t>, medium, high) abgebildet</a:t>
            </a:r>
          </a:p>
          <a:p>
            <a:r>
              <a:rPr lang="de-AT" dirty="0"/>
              <a:t>Backlog</a:t>
            </a:r>
          </a:p>
          <a:p>
            <a:pPr lvl="1"/>
            <a:r>
              <a:rPr lang="de-AT" dirty="0"/>
              <a:t>Enthält alle offenen Ideen, Anforderungen und Aufgaben, die nicht zu einer Iteration zugeordnet sind</a:t>
            </a:r>
          </a:p>
          <a:p>
            <a:pPr lvl="1"/>
            <a:r>
              <a:rPr lang="de-AT" dirty="0"/>
              <a:t>Eigene Spalte im Kanban-Board möglich</a:t>
            </a:r>
          </a:p>
          <a:p>
            <a:pPr marL="0" indent="0">
              <a:buNone/>
            </a:pP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143DFBD-8531-6670-0120-10F1775E1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2FFAA3-43D2-9D97-7620-797E6F6EAB2F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/>
              <a:t>Felician Tröbinger	259.035 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33B506-4CC8-9C52-6C08-425BD71FADF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4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957072-B9B2-40EF-6178-3BD39F48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Grundelemente von </a:t>
            </a:r>
            <a:r>
              <a:rPr lang="de-AT" dirty="0" err="1"/>
              <a:t>github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2F1817-B67C-1861-4C4C-72265159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Kanban-Board</a:t>
            </a:r>
          </a:p>
          <a:p>
            <a:pPr lvl="1"/>
            <a:r>
              <a:rPr lang="de-AT" dirty="0"/>
              <a:t>Visualisiert den aktuellen Status aller Aufgaben </a:t>
            </a:r>
          </a:p>
          <a:p>
            <a:pPr lvl="1"/>
            <a:r>
              <a:rPr lang="de-AT" dirty="0"/>
              <a:t>Bsp. für Spalten: Backlog, </a:t>
            </a:r>
            <a:r>
              <a:rPr lang="de-AT" dirty="0" err="1"/>
              <a:t>To</a:t>
            </a:r>
            <a:r>
              <a:rPr lang="de-AT" dirty="0"/>
              <a:t> Do, In Progress, In Review, </a:t>
            </a:r>
            <a:r>
              <a:rPr lang="de-AT" dirty="0" err="1"/>
              <a:t>Done</a:t>
            </a:r>
            <a:r>
              <a:rPr lang="de-AT" dirty="0"/>
              <a:t>,…</a:t>
            </a:r>
          </a:p>
          <a:p>
            <a:pPr lvl="1"/>
            <a:r>
              <a:rPr lang="de-AT" dirty="0"/>
              <a:t>Automatisch aktualisiert wenn </a:t>
            </a:r>
            <a:r>
              <a:rPr lang="de-AT" dirty="0" err="1"/>
              <a:t>Issues</a:t>
            </a:r>
            <a:r>
              <a:rPr lang="de-AT" dirty="0"/>
              <a:t> ihren Status ändern</a:t>
            </a:r>
          </a:p>
          <a:p>
            <a:r>
              <a:rPr lang="de-AT" dirty="0"/>
              <a:t>Bugs</a:t>
            </a:r>
          </a:p>
          <a:p>
            <a:pPr lvl="1"/>
            <a:r>
              <a:rPr lang="de-AT" dirty="0"/>
              <a:t>Fehler im Code oder Verhalten der Anwendung</a:t>
            </a:r>
          </a:p>
          <a:p>
            <a:pPr lvl="1"/>
            <a:r>
              <a:rPr lang="de-AT" dirty="0" err="1"/>
              <a:t>Issues</a:t>
            </a:r>
            <a:r>
              <a:rPr lang="de-AT" dirty="0"/>
              <a:t> mit Label </a:t>
            </a:r>
            <a:r>
              <a:rPr lang="de-AT" dirty="0" err="1"/>
              <a:t>bug</a:t>
            </a:r>
            <a:endParaRPr lang="de-AT" dirty="0"/>
          </a:p>
          <a:p>
            <a:r>
              <a:rPr lang="de-AT" dirty="0"/>
              <a:t>Views</a:t>
            </a:r>
          </a:p>
          <a:p>
            <a:pPr lvl="1"/>
            <a:r>
              <a:rPr lang="de-AT" dirty="0"/>
              <a:t>Verschiedene Ansichten der Project-Daten (</a:t>
            </a:r>
            <a:r>
              <a:rPr lang="de-AT" dirty="0" err="1"/>
              <a:t>Issues</a:t>
            </a:r>
            <a:r>
              <a:rPr lang="de-AT" dirty="0"/>
              <a:t>, Pull Request, Aufgaben, Felder)</a:t>
            </a:r>
          </a:p>
          <a:p>
            <a:pPr lvl="1"/>
            <a:r>
              <a:rPr lang="de-AT" dirty="0"/>
              <a:t>Darstellung möglich mittels Kanban-Board, Tabelle, Roadmap oder Timeline 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06467EB-79A0-78C7-0D5D-92456FAA1F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147E37-3CD5-3A54-6A5B-A15E256C307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/>
              <a:t>Felician Tröbinger	259.035 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91C129-DD89-6AD6-F205-8EF52A9B6B0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25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F07E4-4B40-08E2-28E8-5F5EB9BD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Dokumentation von planungsaufwand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C331F1-5753-7597-A10D-E51B7BE45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000" dirty="0"/>
              <a:t>Size </a:t>
            </a:r>
            <a:endParaRPr lang="de-AT" dirty="0"/>
          </a:p>
          <a:p>
            <a:pPr lvl="1"/>
            <a:r>
              <a:rPr lang="de-AT" dirty="0"/>
              <a:t>Beschreibt Größe oder Komplexität der Aufgabe </a:t>
            </a:r>
          </a:p>
          <a:p>
            <a:pPr lvl="1"/>
            <a:r>
              <a:rPr lang="de-AT" dirty="0"/>
              <a:t>Geschätzt durch Fibonacci-Zahlen oder T-Shirt-Größe</a:t>
            </a:r>
          </a:p>
          <a:p>
            <a:r>
              <a:rPr lang="de-AT" sz="2000" dirty="0" err="1"/>
              <a:t>Estimate</a:t>
            </a:r>
            <a:endParaRPr lang="de-AT" dirty="0"/>
          </a:p>
          <a:p>
            <a:pPr lvl="1"/>
            <a:r>
              <a:rPr lang="de-AT" dirty="0"/>
              <a:t>Gibt den geschätzten Zeitaufwand(Stunden oder Tagen) an</a:t>
            </a:r>
          </a:p>
          <a:p>
            <a:pPr lvl="1"/>
            <a:r>
              <a:rPr lang="de-AT" dirty="0"/>
              <a:t>Hilfreich bei Sprintplanung und Auslastungsanalyse</a:t>
            </a:r>
          </a:p>
          <a:p>
            <a:pPr lvl="1"/>
            <a:r>
              <a:rPr lang="de-AT" dirty="0"/>
              <a:t>Feld für </a:t>
            </a:r>
            <a:r>
              <a:rPr lang="de-AT" dirty="0" err="1"/>
              <a:t>Estimate</a:t>
            </a:r>
            <a:r>
              <a:rPr lang="de-AT" dirty="0"/>
              <a:t> oder Story Points</a:t>
            </a:r>
          </a:p>
          <a:p>
            <a:endParaRPr lang="de-AT" sz="2200" dirty="0"/>
          </a:p>
          <a:p>
            <a:pPr marL="324000" lvl="1" indent="0">
              <a:buNone/>
            </a:pPr>
            <a:endParaRPr lang="de-AT" sz="200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4BFB6227-2A40-4EF4-C9B9-E874C2E8B4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941756-C1CC-7C5A-0C6B-14DD96C114A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/>
              <a:t>Felician Tröbinger	259.035 </a:t>
            </a:r>
            <a:endParaRPr lang="de-AT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E0606A-7821-3178-F69C-C6BAA21D5FC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7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aesentation_Vorlage_WIN_IE Kopie" id="{7309C7A1-9513-6245-992D-BD5F0FCCBA64}" vid="{DBCB829A-915E-2D4F-A73C-073BABE8C67C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Praesentation_Vorlage_WIN_IE</Template>
  <TotalTime>0</TotalTime>
  <Words>325</Words>
  <Application>Microsoft Office PowerPoint</Application>
  <PresentationFormat>Bildschirmpräsentation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Wingdings 2</vt:lpstr>
      <vt:lpstr>Office-Design</vt:lpstr>
      <vt:lpstr>PowerPoint-Präsentation</vt:lpstr>
      <vt:lpstr>Projekt se</vt:lpstr>
      <vt:lpstr>Allgemeines</vt:lpstr>
      <vt:lpstr>Grundelemente von GitHub</vt:lpstr>
      <vt:lpstr>Grundelemente von github</vt:lpstr>
      <vt:lpstr>Grundelemente von github</vt:lpstr>
      <vt:lpstr>Dokumentation von planungsaufwand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Angela Andorfer</dc:creator>
  <cp:lastModifiedBy>Tröbinger Felician</cp:lastModifiedBy>
  <cp:revision>12</cp:revision>
  <cp:lastPrinted>2015-10-19T12:36:16Z</cp:lastPrinted>
  <dcterms:created xsi:type="dcterms:W3CDTF">2018-04-19T12:56:50Z</dcterms:created>
  <dcterms:modified xsi:type="dcterms:W3CDTF">2025-11-04T15:39:20Z</dcterms:modified>
</cp:coreProperties>
</file>